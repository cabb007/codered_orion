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213d4190984350" /><Relationship Type="http://schemas.openxmlformats.org/officeDocument/2006/relationships/extended-properties" Target="/docProps/app.xml" Id="R4444e98dbfe34f63" /><Relationship Type="http://schemas.openxmlformats.org/officeDocument/2006/relationships/officeDocument" Target="/ppt/presentation.xml" Id="R89244c1e62f949fa" /></Relationships>
</file>

<file path=ppt/presentation.xml><?xml version="1.0" encoding="utf-8"?>
<p:presentation xmlns:p="http://schemas.openxmlformats.org/presentationml/2006/main">
  <p:sldMasterIdLst>
    <p:sldMasterId xmlns:r="http://schemas.openxmlformats.org/officeDocument/2006/relationships" id="2147483648" r:id="Rc642365741074ae8"/>
  </p:sldMasterIdLst>
  <p:notesMasterIdLst>
    <p:notesMasterId xmlns:r="http://schemas.openxmlformats.org/officeDocument/2006/relationships" r:id="R0129e03e5f824cde"/>
  </p:notesMasterIdLst>
  <p:sldIdLst>
    <p:sldId xmlns:r="http://schemas.openxmlformats.org/officeDocument/2006/relationships" id="256" r:id="R9b0021d0ac914e9a"/>
    <p:sldId xmlns:r="http://schemas.openxmlformats.org/officeDocument/2006/relationships" id="257" r:id="R60603d782a054348"/>
    <p:sldId xmlns:r="http://schemas.openxmlformats.org/officeDocument/2006/relationships" id="258" r:id="R7d5785ddf2ae4eda"/>
    <p:sldId xmlns:r="http://schemas.openxmlformats.org/officeDocument/2006/relationships" id="259" r:id="R84548cd9415c4fe1"/>
    <p:sldId xmlns:r="http://schemas.openxmlformats.org/officeDocument/2006/relationships" id="260" r:id="R8f11be81060c445a"/>
    <p:sldId xmlns:r="http://schemas.openxmlformats.org/officeDocument/2006/relationships" id="261" r:id="Rcab3177cbd0a4d29"/>
    <p:sldId xmlns:r="http://schemas.openxmlformats.org/officeDocument/2006/relationships" id="262" r:id="Rc7c8c5a61bb94c1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07b14369ed4e7a" /><Relationship Type="http://schemas.openxmlformats.org/officeDocument/2006/relationships/slideMaster" Target="/ppt/slideMasters/slideMaster1.xml" Id="Rc642365741074ae8" /><Relationship Type="http://schemas.openxmlformats.org/officeDocument/2006/relationships/notesMaster" Target="/ppt/notesMasters/notesMaster1.xml" Id="R0129e03e5f824cde" /><Relationship Type="http://schemas.openxmlformats.org/officeDocument/2006/relationships/presProps" Target="/ppt/presProps.xml" Id="R443f0df6ebdf4700" /><Relationship Type="http://schemas.openxmlformats.org/officeDocument/2006/relationships/tableStyles" Target="/ppt/tableStyles.xml" Id="R508b0e73caf74a8a" /><Relationship Type="http://schemas.openxmlformats.org/officeDocument/2006/relationships/slide" Target="/ppt/slides/slide1.xml" Id="R9b0021d0ac914e9a" /><Relationship Type="http://schemas.openxmlformats.org/officeDocument/2006/relationships/slide" Target="/ppt/slides/slide2.xml" Id="R60603d782a054348" /><Relationship Type="http://schemas.openxmlformats.org/officeDocument/2006/relationships/slide" Target="/ppt/slides/slide3.xml" Id="R7d5785ddf2ae4eda" /><Relationship Type="http://schemas.openxmlformats.org/officeDocument/2006/relationships/slide" Target="/ppt/slides/slide4.xml" Id="R84548cd9415c4fe1" /><Relationship Type="http://schemas.openxmlformats.org/officeDocument/2006/relationships/slide" Target="/ppt/slides/slide5.xml" Id="R8f11be81060c445a" /><Relationship Type="http://schemas.openxmlformats.org/officeDocument/2006/relationships/slide" Target="/ppt/slides/slide6.xml" Id="Rcab3177cbd0a4d29" /><Relationship Type="http://schemas.openxmlformats.org/officeDocument/2006/relationships/slide" Target="/ppt/slides/slide7.xml" Id="Rc7c8c5a61bb9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f884fb52240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coGotch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EcoGotch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67443a41cc4e1f" /><Relationship Type="http://schemas.openxmlformats.org/officeDocument/2006/relationships/notesMaster" Target="/ppt/notesMasters/notesMaster1.xml" Id="R8e52dbb6372f4d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6cd201e186463c" /><Relationship Type="http://schemas.openxmlformats.org/officeDocument/2006/relationships/notesMaster" Target="/ppt/notesMasters/notesMaster1.xml" Id="R07c24b1cdcfa4c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5916c4404042dd" /><Relationship Type="http://schemas.openxmlformats.org/officeDocument/2006/relationships/notesMaster" Target="/ppt/notesMasters/notesMaster1.xml" Id="Rb33e3430dc3842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9d1c889a3d48e3" /><Relationship Type="http://schemas.openxmlformats.org/officeDocument/2006/relationships/notesMaster" Target="/ppt/notesMasters/notesMaster1.xml" Id="Rd7c21999a575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27496f99f94700" /><Relationship Type="http://schemas.openxmlformats.org/officeDocument/2006/relationships/notesMaster" Target="/ppt/notesMasters/notesMaster1.xml" Id="Red601ee7e82943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49f178967640d9" /><Relationship Type="http://schemas.openxmlformats.org/officeDocument/2006/relationships/notesMaster" Target="/ppt/notesMasters/notesMaster1.xml" Id="R2a46162337fc44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b435bddaf461a" /><Relationship Type="http://schemas.openxmlformats.org/officeDocument/2006/relationships/notesMaster" Target="/ppt/notesMasters/notesMaster1.xml" Id="R75a74705725c4b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EcoGotchi is our native iPhone habitat game for the Best Environment Hack track at CodeRED: Orion. Players care for pixel pets and restore a virtual environment through a guided recycling activity. Introduce the team. The demo is a gameplay prototype, not a validated measure of environmental impact.</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tackles the everyday habit of recycling. The location finder helps users discover a destination, while the virtual habitat creates a reason to return. This is a design hypothesis to test, not a measured claim of behavior change. In the game, litter accumulates over time and changes the scenery. At low habitat health, pets shelter without disappearing from the player’s collection. Habitat condition and rewards are game mechanics rather than environmental impact estimates.</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freely among Willow Grove, Coral Cove, and Snow Glade. Each world has four pets and keeps its own litter, action milestones, and condition, while all share the leaf wallet. Conditions are Thriving, Littered, Tarnished, and Polluted. The forest has drifting leaves and pond ripples, the reef has bubbles and kelp, and the snow habitat has snow and ice effects. Players start with one local pet and unlock others after 1, 3, and 6 actions in that habitat. The slide shows existing app artwork, not screenshots of the animation in motion.</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tap Recycle and capture the bin, item, and disposal in the same session. Each photo triggers a scan animation, a success message, haptics, and an original retro chime. After the third capture, default demo mode automatically awards 20 leaves and clears one piece of virtual litter. It does not classify the images or verify correct recycling. The photos here are example captures from the user-supplied review screenshot, not evidence of an approved recycling action. In particular, the unmarked bin is not established as a recycling bin. Optional AI review is a separate mode and can reject or mark evidence unclear. Image source: user attachment codex-clipboard-3d2131c4-3723-43de-a405-9b908c8b6715.png.</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running app. Tap a pet for a reaction, pick it up and release it, then feed it from the Shop. Decorations can be dragged and locked, and the arrangement persists. The Find a bin feature uses current location only after the user asks, or a typed city/ZIP code, and opens directions in Apple Maps. Coverage and listed materials vary. Checking a map location does not award leaves or prove correct disposal. Image source: user attachment codex-clipboard-b50f9846-6b0a-4868-b374-b485eaac1bb1.png, cropped only to remove the unrelated iOS status area.</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client is native Swift and SwiftUI, not React Native. Camera capture uses AVFoundation. Game state persists locally in UserDefaults. The optional review service uses Node.js and Google Gemini and keeps the API key on the server. Default demo mode needs no server and uploads no photos. AI mode submits the three selected images together, not a continuous video stream. Only approved AI reviews grant material-based rewards, while unclear or rejected reviews grant zero. The game has no implemented Firebase login, TensorFlow Lite classifier, or community leaderboard. Developer mode can preview habitat conditions and features without overwriting the saved game.</a:t>
            </a:r>
          </a:p>
          <a:p xmlns:a="http://schemas.openxmlformats.org/drawingml/2006/main">
            <a:r>
              <a:t>Map sources used by the app: https://wiki.openstreetmap.org/wiki/Overpass_API and https://services2.arcgis.com/LYMgRMwHfrWWEg3s/ArcGIS/rest/services/City_of_Houston_SWMD_Recycling_Disposal_Facilities/FeatureServer.</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small campus pilot to test whether people return and whether the guidance helps. More reliable sorting guidance and bin partnerships would be needed before using rewards as a signal of verified disposal. Paid cosmetics supporting real habitat projects are a future concept. No payments or donation integration exists today. Environmental impact would need measurement with pilot partners. Close by returning to the live app and inviting the judges to interact with a pet.</a:t>
            </a:r>
          </a:p>
          <a:p xmlns:a="http://schemas.openxmlformats.org/drawingml/2006/main">
            <a:r>
              <a:t/>
            </a:r>
          </a:p>
          <a:p xmlns:a="http://schemas.openxmlformats.org/drawingml/2006/main">
            <a:r>
              <a:t>App source: /Users/jinhua/Documents/Github Internal/Github/CodeRed_Orion/README.md. Implemented behavior also checked against EcoGotchi/Models/HabitatState.swift, HabitatStore.swift, and EcoGotchiApp.swift. Artwork: original bundled EcoGotchi assets, generated for this project. Team names and event context retained from the supplied Recycli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b3767f209745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1f391f3cdc4b03" /><Relationship Type="http://schemas.openxmlformats.org/officeDocument/2006/relationships/slideLayout" Target="/ppt/slideLayouts/slideLayout1.xml" Id="R1cef09fb6f294e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ef09fb6f294e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coGotch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EcoGotch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17870de5424f4b" /><Relationship Type="http://schemas.openxmlformats.org/officeDocument/2006/relationships/image" Target="/ppt/media/image.png" Id="Re9605ebbcc3649ef" /><Relationship Type="http://schemas.openxmlformats.org/officeDocument/2006/relationships/image" Target="/ppt/media/image2.png" Id="R3be74c7e76b046f2" /><Relationship Type="http://schemas.openxmlformats.org/officeDocument/2006/relationships/notesSlide" Target="/ppt/notesSlides/notesSlide1.xml" Id="R668a8c4cecf1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26cbbd62c84be7" /><Relationship Type="http://schemas.openxmlformats.org/officeDocument/2006/relationships/image" Target="/ppt/media/image3.png" Id="R0343d44c42fd46d4" /><Relationship Type="http://schemas.openxmlformats.org/officeDocument/2006/relationships/notesSlide" Target="/ppt/notesSlides/notesSlide2.xml" Id="R1b2bc18b97f649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f5cab2920b439e" /><Relationship Type="http://schemas.openxmlformats.org/officeDocument/2006/relationships/image" Target="/ppt/media/image4.png" Id="Rf05bea1efc92446d" /><Relationship Type="http://schemas.openxmlformats.org/officeDocument/2006/relationships/image" Target="/ppt/media/image5.png" Id="Readb7e6f9703435c" /><Relationship Type="http://schemas.openxmlformats.org/officeDocument/2006/relationships/image" Target="/ppt/media/image6.png" Id="Rcac399b4930a42c3" /><Relationship Type="http://schemas.openxmlformats.org/officeDocument/2006/relationships/image" Target="/ppt/media/image7.png" Id="Rf37c745bd07e4940" /><Relationship Type="http://schemas.openxmlformats.org/officeDocument/2006/relationships/image" Target="/ppt/media/image8.png" Id="Rdc8ecd5000b44077" /><Relationship Type="http://schemas.openxmlformats.org/officeDocument/2006/relationships/image" Target="/ppt/media/image9.png" Id="R0f4290a1c0174099" /><Relationship Type="http://schemas.openxmlformats.org/officeDocument/2006/relationships/notesSlide" Target="/ppt/notesSlides/notesSlide3.xml" Id="R0bde1a0e08144a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c9cb627dcb4fa1" /><Relationship Type="http://schemas.openxmlformats.org/officeDocument/2006/relationships/image" Target="/ppt/media/image10.png" Id="R7d8b75a971f840dc" /><Relationship Type="http://schemas.openxmlformats.org/officeDocument/2006/relationships/image" Target="/ppt/media/image11.png" Id="R293c5e5ce2654c76" /><Relationship Type="http://schemas.openxmlformats.org/officeDocument/2006/relationships/image" Target="/ppt/media/image12.png" Id="R656dda78764146ae" /><Relationship Type="http://schemas.openxmlformats.org/officeDocument/2006/relationships/image" Target="/ppt/media/image13.png" Id="R5306dd2734134d7c" /><Relationship Type="http://schemas.openxmlformats.org/officeDocument/2006/relationships/notesSlide" Target="/ppt/notesSlides/notesSlide4.xml" Id="R255492b336dc47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deb0b0c5c94536" /><Relationship Type="http://schemas.openxmlformats.org/officeDocument/2006/relationships/image" Target="/ppt/media/image14.png" Id="R7bba30c0a4d64a6f" /><Relationship Type="http://schemas.openxmlformats.org/officeDocument/2006/relationships/notesSlide" Target="/ppt/notesSlides/notesSlide5.xml" Id="Ra0d0bd7b8b084f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03afbf7cb44c72" /><Relationship Type="http://schemas.openxmlformats.org/officeDocument/2006/relationships/notesSlide" Target="/ppt/notesSlides/notesSlide6.xml" Id="Rb2bb9622882040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737ec5070743e6" /><Relationship Type="http://schemas.openxmlformats.org/officeDocument/2006/relationships/image" Target="/ppt/media/image15.png" Id="R9e28298de7e84bec" /><Relationship Type="http://schemas.openxmlformats.org/officeDocument/2006/relationships/image" Target="/ppt/media/image16.png" Id="R7dde1eb5716c43c1" /><Relationship Type="http://schemas.openxmlformats.org/officeDocument/2006/relationships/notesSlide" Target="/ppt/notesSlides/notesSlide7.xml" Id="R336d8d821bf54618" /></Relationships>
</file>

<file path=ppt/slides/slide1.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605ebbcc3649ef"/>
          <a:srcRect xmlns:a="http://schemas.openxmlformats.org/drawingml/2006/main" l="0" t="6082" r="0" b="6082"/>
          <a:stretch xmlns:a="http://schemas.openxmlformats.org/drawingml/2006/main">
            <a:fillRect l="0" t="0" r="0" b="0"/>
          </a:stretch>
        </p:blipFill>
        <p:spPr>
          <a:xfrm xmlns:a="http://schemas.openxmlformats.org/drawingml/2006/main">
            <a:off x="5848350" y="0"/>
            <a:ext cx="3295650" cy="51435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be74c7e76b046f2"/>
          <a:stretch xmlns:a="http://schemas.openxmlformats.org/drawingml/2006/main"/>
        </p:blipFill>
        <p:spPr>
          <a:xfrm xmlns:a="http://schemas.openxmlformats.org/drawingml/2006/main">
            <a:off x="6784918" y="3057525"/>
            <a:ext cx="1374889" cy="1676400"/>
          </a:xfrm>
          <a:prstGeom xmlns:a="http://schemas.openxmlformats.org/drawingml/2006/main" prst="rect">
            <a:avLst/>
          </a:prstGeom>
        </p:spPr>
      </p:pic>
      <p:sp>
        <p:nvSpPr>
          <p:cNvPr id="3" name="CodeRED: Orion">
            <a:extLst xmlns:a="http://schemas.openxmlformats.org/drawingml/2006/main">
              <a:ext uri="{FF2B5EF4-FFF2-40B4-BE49-F238E27FC236}">
                <a16:creationId xmlns:a16="http://schemas.microsoft.com/office/drawing/2014/main" id="{ACC92CAC-0233-4900-A62C-FA878A9A3BB7}"/>
              </a:ext>
            </a:extLst>
          </p:cNvPr>
          <p:cNvSpPr>
            <a:spLocks xmlns:a="http://schemas.openxmlformats.org/drawingml/2006/main" noGrp="1"/>
          </p:cNvSpPr>
          <p:nvPr/>
        </p:nvSpPr>
        <p:spPr>
          <a:xfrm xmlns:a="http://schemas.openxmlformats.org/drawingml/2006/main">
            <a:off x="457200" y="40005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527060"/>
                </a:solidFill>
                <a:latin typeface="Courier New"/>
                <a:ea typeface="Courier New"/>
                <a:cs typeface="Courier New"/>
              </a:defRPr>
            </a:pPr>
            <a:r>
              <a:rPr sz="1425" b="1">
                <a:solidFill>
                  <a:srgbClr val="527060"/>
                </a:solidFill>
                <a:latin typeface="Courier New"/>
                <a:ea typeface="Courier New"/>
                <a:cs typeface="Courier New"/>
              </a:rPr>
              <a:t>CodeRED: Orion</a:t>
            </a:r>
          </a:p>
        </p:txBody>
      </p:sp>
      <p:sp>
        <p:nvSpPr>
          <p:cNvPr id="4" name="Best Environment Hack">
            <a:extLst xmlns:a="http://schemas.openxmlformats.org/drawingml/2006/main">
              <a:ext uri="{FF2B5EF4-FFF2-40B4-BE49-F238E27FC236}">
                <a16:creationId xmlns:a16="http://schemas.microsoft.com/office/drawing/2014/main" id="{B9F04659-0474-43C1-9A31-701B52249285}"/>
              </a:ext>
            </a:extLst>
          </p:cNvPr>
          <p:cNvSpPr>
            <a:spLocks xmlns:a="http://schemas.openxmlformats.org/drawingml/2006/main" noGrp="1"/>
          </p:cNvSpPr>
          <p:nvPr/>
        </p:nvSpPr>
        <p:spPr>
          <a:xfrm xmlns:a="http://schemas.openxmlformats.org/drawingml/2006/main">
            <a:off x="457200" y="6858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7060"/>
                </a:solidFill>
                <a:latin typeface="Courier New"/>
                <a:ea typeface="Courier New"/>
                <a:cs typeface="Courier New"/>
              </a:defRPr>
            </a:pPr>
            <a:r>
              <a:rPr sz="1425" b="0">
                <a:solidFill>
                  <a:srgbClr val="527060"/>
                </a:solidFill>
                <a:latin typeface="Courier New"/>
                <a:ea typeface="Courier New"/>
                <a:cs typeface="Courier New"/>
              </a:rPr>
              <a:t>Best Environment Hack</a:t>
            </a:r>
          </a:p>
        </p:txBody>
      </p:sp>
      <p:sp>
        <p:nvSpPr>
          <p:cNvPr id="5" name="EcoGotchi">
            <a:extLst xmlns:a="http://schemas.openxmlformats.org/drawingml/2006/main">
              <a:ext uri="{FF2B5EF4-FFF2-40B4-BE49-F238E27FC236}">
                <a16:creationId xmlns:a16="http://schemas.microsoft.com/office/drawing/2014/main" id="{A050BBC9-3027-4206-9800-BA25F510EE60}"/>
              </a:ext>
            </a:extLst>
          </p:cNvPr>
          <p:cNvSpPr>
            <a:spLocks xmlns:a="http://schemas.openxmlformats.org/drawingml/2006/main" noGrp="1"/>
          </p:cNvSpPr>
          <p:nvPr/>
        </p:nvSpPr>
        <p:spPr>
          <a:xfrm xmlns:a="http://schemas.openxmlformats.org/drawingml/2006/main">
            <a:off x="419100" y="1628775"/>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244033"/>
                </a:solidFill>
                <a:latin typeface="Courier New"/>
                <a:ea typeface="Courier New"/>
                <a:cs typeface="Courier New"/>
              </a:defRPr>
            </a:pPr>
            <a:r>
              <a:rPr sz="5400" b="1">
                <a:solidFill>
                  <a:srgbClr val="244033"/>
                </a:solidFill>
                <a:latin typeface="Courier New"/>
                <a:ea typeface="Courier New"/>
                <a:cs typeface="Courier New"/>
              </a:rPr>
              <a:t>EcoGotchi</a:t>
            </a:r>
          </a:p>
        </p:txBody>
      </p:sp>
      <p:sp>
        <p:nvSpPr>
          <p:cNvPr id="6" name="A pocket habitat that grows&#10;with your recycling habits.">
            <a:extLst xmlns:a="http://schemas.openxmlformats.org/drawingml/2006/main">
              <a:ext uri="{FF2B5EF4-FFF2-40B4-BE49-F238E27FC236}">
                <a16:creationId xmlns:a16="http://schemas.microsoft.com/office/drawing/2014/main" id="{413B939F-954E-407C-985A-CE641119DDF6}"/>
              </a:ext>
            </a:extLst>
          </p:cNvPr>
          <p:cNvSpPr>
            <a:spLocks xmlns:a="http://schemas.openxmlformats.org/drawingml/2006/main" noGrp="1"/>
          </p:cNvSpPr>
          <p:nvPr/>
        </p:nvSpPr>
        <p:spPr>
          <a:xfrm xmlns:a="http://schemas.openxmlformats.org/drawingml/2006/main">
            <a:off x="457200" y="2609850"/>
            <a:ext cx="4905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4033"/>
                </a:solidFill>
                <a:latin typeface="Arial"/>
                <a:ea typeface="Arial"/>
                <a:cs typeface="Arial"/>
              </a:defRPr>
            </a:pPr>
            <a:r>
              <a:rPr sz="2175" b="0">
                <a:solidFill>
                  <a:srgbClr val="244033"/>
                </a:solidFill>
                <a:latin typeface="Arial"/>
                <a:ea typeface="Arial"/>
                <a:cs typeface="Arial"/>
              </a:rPr>
              <a:t>A pocket habitat that grows</a:t>
            </a:r>
          </a:p>
          <a:p xmlns:a="http://schemas.openxmlformats.org/drawingml/2006/main">
            <a:pPr algn="l">
              <a:defRPr sz="2175" b="0">
                <a:solidFill>
                  <a:srgbClr val="244033"/>
                </a:solidFill>
                <a:latin typeface="Arial"/>
                <a:ea typeface="Arial"/>
                <a:cs typeface="Arial"/>
              </a:defRPr>
            </a:pPr>
            <a:r>
              <a:rPr sz="2175" b="0">
                <a:solidFill>
                  <a:srgbClr val="244033"/>
                </a:solidFill>
                <a:latin typeface="Arial"/>
                <a:ea typeface="Arial"/>
                <a:cs typeface="Arial"/>
              </a:rPr>
              <a:t>with your recycling habits.</a:t>
            </a:r>
          </a:p>
        </p:txBody>
      </p:sp>
      <p:sp>
        <p:nvSpPr>
          <p:cNvPr id="7" name="Farden Khan&#10;Jintian Wu">
            <a:extLst xmlns:a="http://schemas.openxmlformats.org/drawingml/2006/main">
              <a:ext uri="{FF2B5EF4-FFF2-40B4-BE49-F238E27FC236}">
                <a16:creationId xmlns:a16="http://schemas.microsoft.com/office/drawing/2014/main" id="{40C0A4BD-7960-45B7-8579-A9A8CD80ACB9}"/>
              </a:ext>
            </a:extLst>
          </p:cNvPr>
          <p:cNvSpPr>
            <a:spLocks xmlns:a="http://schemas.openxmlformats.org/drawingml/2006/main" noGrp="1"/>
          </p:cNvSpPr>
          <p:nvPr/>
        </p:nvSpPr>
        <p:spPr>
          <a:xfrm xmlns:a="http://schemas.openxmlformats.org/drawingml/2006/main">
            <a:off x="457200" y="3952875"/>
            <a:ext cx="2305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Farden Khan</a:t>
            </a:r>
          </a:p>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Jintian Wu</a:t>
            </a:r>
          </a:p>
        </p:txBody>
      </p:sp>
      <p:sp>
        <p:nvSpPr>
          <p:cNvPr id="8" name="Colin Bond-Burt&#10;Christopher Wiratman">
            <a:extLst xmlns:a="http://schemas.openxmlformats.org/drawingml/2006/main">
              <a:ext uri="{FF2B5EF4-FFF2-40B4-BE49-F238E27FC236}">
                <a16:creationId xmlns:a16="http://schemas.microsoft.com/office/drawing/2014/main" id="{5F39CD25-118D-41FE-B761-BA73689ADCB3}"/>
              </a:ext>
            </a:extLst>
          </p:cNvPr>
          <p:cNvSpPr>
            <a:spLocks xmlns:a="http://schemas.openxmlformats.org/drawingml/2006/main" noGrp="1"/>
          </p:cNvSpPr>
          <p:nvPr/>
        </p:nvSpPr>
        <p:spPr>
          <a:xfrm xmlns:a="http://schemas.openxmlformats.org/drawingml/2006/main">
            <a:off x="2867025" y="3952875"/>
            <a:ext cx="2838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Colin Bond-Burt</a:t>
            </a:r>
          </a:p>
          <a:p xmlns:a="http://schemas.openxmlformats.org/drawingml/2006/main">
            <a:pPr algn="l">
              <a:defRPr sz="1500" b="1">
                <a:solidFill>
                  <a:srgbClr val="244033"/>
                </a:solidFill>
                <a:latin typeface="Arial"/>
                <a:ea typeface="Arial"/>
                <a:cs typeface="Arial"/>
              </a:defRPr>
            </a:pPr>
            <a:r>
              <a:rPr sz="1500" b="1">
                <a:solidFill>
                  <a:srgbClr val="244033"/>
                </a:solidFill>
                <a:latin typeface="Arial"/>
                <a:ea typeface="Arial"/>
                <a:cs typeface="Arial"/>
              </a:rPr>
              <a:t>Christopher Wiratman</a:t>
            </a:r>
          </a:p>
        </p:txBody>
      </p:sp>
    </p:spTree>
    <p:extLst>
      <p:ext uri="{BB962C8B-B14F-4D97-AF65-F5344CB8AC3E}">
        <p14:creationId xmlns:p14="http://schemas.microsoft.com/office/powerpoint/2010/main" val="2036805208"/>
      </p:ext>
    </p:extLst>
  </p:cSld>
</p:sld>
</file>

<file path=ppt/slides/slide2.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0" name="The recycling habit">
            <a:extLst xmlns:a="http://schemas.openxmlformats.org/drawingml/2006/main">
              <a:ext uri="{FF2B5EF4-FFF2-40B4-BE49-F238E27FC236}">
                <a16:creationId xmlns:a16="http://schemas.microsoft.com/office/drawing/2014/main" id="{B3A77A94-792D-4329-A14F-06FAFC641E7A}"/>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The recycling habit</a:t>
            </a:r>
          </a:p>
        </p:txBody>
      </p:sp>
      <p:sp>
        <p:nvSpPr>
          <p:cNvPr id="2" name="Our goal is to make recycling&#10;easier to repeat.">
            <a:extLst xmlns:a="http://schemas.openxmlformats.org/drawingml/2006/main">
              <a:ext uri="{FF2B5EF4-FFF2-40B4-BE49-F238E27FC236}">
                <a16:creationId xmlns:a16="http://schemas.microsoft.com/office/drawing/2014/main" id="{2C146377-7608-4B4D-911A-F05B8D769CD2}"/>
              </a:ext>
            </a:extLst>
          </p:cNvPr>
          <p:cNvSpPr>
            <a:spLocks xmlns:a="http://schemas.openxmlformats.org/drawingml/2006/main" noGrp="1"/>
          </p:cNvSpPr>
          <p:nvPr/>
        </p:nvSpPr>
        <p:spPr>
          <a:xfrm xmlns:a="http://schemas.openxmlformats.org/drawingml/2006/main">
            <a:off x="457200" y="1219200"/>
            <a:ext cx="496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4033"/>
                </a:solidFill>
                <a:latin typeface="Arial"/>
                <a:ea typeface="Arial"/>
                <a:cs typeface="Arial"/>
              </a:defRPr>
            </a:pPr>
            <a:r>
              <a:rPr sz="2250" b="1">
                <a:solidFill>
                  <a:srgbClr val="244033"/>
                </a:solidFill>
                <a:latin typeface="Arial"/>
                <a:ea typeface="Arial"/>
                <a:cs typeface="Arial"/>
              </a:rPr>
              <a:t>Our goal is to make recycling</a:t>
            </a:r>
          </a:p>
          <a:p xmlns:a="http://schemas.openxmlformats.org/drawingml/2006/main">
            <a:pPr algn="l">
              <a:defRPr sz="2250" b="1">
                <a:solidFill>
                  <a:srgbClr val="244033"/>
                </a:solidFill>
                <a:latin typeface="Arial"/>
                <a:ea typeface="Arial"/>
                <a:cs typeface="Arial"/>
              </a:defRPr>
            </a:pPr>
            <a:r>
              <a:rPr sz="2250" b="1">
                <a:solidFill>
                  <a:srgbClr val="244033"/>
                </a:solidFill>
                <a:latin typeface="Arial"/>
                <a:ea typeface="Arial"/>
                <a:cs typeface="Arial"/>
              </a:rPr>
              <a:t>easier to repeat.</a:t>
            </a:r>
          </a:p>
        </p:txBody>
      </p:sp>
      <p:sp>
        <p:nvSpPr>
          <p:cNvPr id="3" name="A place to start">
            <a:extLst xmlns:a="http://schemas.openxmlformats.org/drawingml/2006/main">
              <a:ext uri="{FF2B5EF4-FFF2-40B4-BE49-F238E27FC236}">
                <a16:creationId xmlns:a16="http://schemas.microsoft.com/office/drawing/2014/main" id="{BEB3986A-19C8-4FB8-80D4-6550D4568764}"/>
              </a:ext>
            </a:extLst>
          </p:cNvPr>
          <p:cNvSpPr>
            <a:spLocks xmlns:a="http://schemas.openxmlformats.org/drawingml/2006/main" noGrp="1"/>
          </p:cNvSpPr>
          <p:nvPr/>
        </p:nvSpPr>
        <p:spPr>
          <a:xfrm xmlns:a="http://schemas.openxmlformats.org/drawingml/2006/main">
            <a:off x="457200" y="2409825"/>
            <a:ext cx="4943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A place to start</a:t>
            </a:r>
          </a:p>
        </p:txBody>
      </p:sp>
      <p:sp>
        <p:nvSpPr>
          <p:cNvPr id="4" name="Nearby recycling locations help people&#10;find where to take their i">
            <a:extLst xmlns:a="http://schemas.openxmlformats.org/drawingml/2006/main">
              <a:ext uri="{FF2B5EF4-FFF2-40B4-BE49-F238E27FC236}">
                <a16:creationId xmlns:a16="http://schemas.microsoft.com/office/drawing/2014/main" id="{90D790FD-C84C-4C5B-9594-70EAC1C45D6B}"/>
              </a:ext>
            </a:extLst>
          </p:cNvPr>
          <p:cNvSpPr>
            <a:spLocks xmlns:a="http://schemas.openxmlformats.org/drawingml/2006/main" noGrp="1"/>
          </p:cNvSpPr>
          <p:nvPr/>
        </p:nvSpPr>
        <p:spPr>
          <a:xfrm xmlns:a="http://schemas.openxmlformats.org/drawingml/2006/main">
            <a:off x="457200" y="280987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Nearby recycling locations help people</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find where to take their items.</a:t>
            </a:r>
          </a:p>
        </p:txBody>
      </p:sp>
      <p:sp>
        <p:nvSpPr>
          <p:cNvPr id="5" name="A reason to return">
            <a:extLst xmlns:a="http://schemas.openxmlformats.org/drawingml/2006/main">
              <a:ext uri="{FF2B5EF4-FFF2-40B4-BE49-F238E27FC236}">
                <a16:creationId xmlns:a16="http://schemas.microsoft.com/office/drawing/2014/main" id="{94F1A5F0-FC85-407F-9647-9B09A429AA39}"/>
              </a:ext>
            </a:extLst>
          </p:cNvPr>
          <p:cNvSpPr>
            <a:spLocks xmlns:a="http://schemas.openxmlformats.org/drawingml/2006/main" noGrp="1"/>
          </p:cNvSpPr>
          <p:nvPr/>
        </p:nvSpPr>
        <p:spPr>
          <a:xfrm xmlns:a="http://schemas.openxmlformats.org/drawingml/2006/main">
            <a:off x="457200" y="3733800"/>
            <a:ext cx="4943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A reason to return</a:t>
            </a:r>
          </a:p>
        </p:txBody>
      </p:sp>
      <p:sp>
        <p:nvSpPr>
          <p:cNvPr id="6" name="A recovering habitat makes progress&#10;visible and gives pets a home">
            <a:extLst xmlns:a="http://schemas.openxmlformats.org/drawingml/2006/main">
              <a:ext uri="{FF2B5EF4-FFF2-40B4-BE49-F238E27FC236}">
                <a16:creationId xmlns:a16="http://schemas.microsoft.com/office/drawing/2014/main" id="{3766A69F-A14B-45B1-83AE-609C5B13700A}"/>
              </a:ext>
            </a:extLst>
          </p:cNvPr>
          <p:cNvSpPr>
            <a:spLocks xmlns:a="http://schemas.openxmlformats.org/drawingml/2006/main" noGrp="1"/>
          </p:cNvSpPr>
          <p:nvPr/>
        </p:nvSpPr>
        <p:spPr>
          <a:xfrm xmlns:a="http://schemas.openxmlformats.org/drawingml/2006/main">
            <a:off x="457200" y="41338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A recovering habitat makes progress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visible and gives pets a home.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343d44c42fd46d4"/>
          <a:srcRect xmlns:a="http://schemas.openxmlformats.org/drawingml/2006/main" l="0" t="16699" r="0" b="16699"/>
          <a:stretch xmlns:a="http://schemas.openxmlformats.org/drawingml/2006/main">
            <a:fillRect l="0" t="0" r="0" b="0"/>
          </a:stretch>
        </p:blipFill>
        <p:spPr>
          <a:xfrm xmlns:a="http://schemas.openxmlformats.org/drawingml/2006/main">
            <a:off x="5934075" y="1057275"/>
            <a:ext cx="2752725" cy="3257550"/>
          </a:xfrm>
          <a:prstGeom xmlns:a="http://schemas.openxmlformats.org/drawingml/2006/main" prst="rect">
            <a:avLst/>
          </a:prstGeom>
        </p:spPr>
      </p:pic>
      <p:sp>
        <p:nvSpPr>
          <p:cNvPr id="8" name="POLLUTED">
            <a:extLst xmlns:a="http://schemas.openxmlformats.org/drawingml/2006/main">
              <a:ext uri="{FF2B5EF4-FFF2-40B4-BE49-F238E27FC236}">
                <a16:creationId xmlns:a16="http://schemas.microsoft.com/office/drawing/2014/main" id="{9573AD04-F7A8-4F0A-9186-E16E088A334C}"/>
              </a:ext>
            </a:extLst>
          </p:cNvPr>
          <p:cNvSpPr>
            <a:spLocks xmlns:a="http://schemas.openxmlformats.org/drawingml/2006/main" noGrp="1"/>
          </p:cNvSpPr>
          <p:nvPr/>
        </p:nvSpPr>
        <p:spPr>
          <a:xfrm xmlns:a="http://schemas.openxmlformats.org/drawingml/2006/main">
            <a:off x="5934075" y="4429125"/>
            <a:ext cx="2752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527060"/>
                </a:solidFill>
                <a:latin typeface="Courier New"/>
                <a:ea typeface="Courier New"/>
                <a:cs typeface="Courier New"/>
              </a:defRPr>
            </a:pPr>
            <a:r>
              <a:rPr sz="1575" b="1">
                <a:solidFill>
                  <a:srgbClr val="527060"/>
                </a:solidFill>
                <a:latin typeface="Courier New"/>
                <a:ea typeface="Courier New"/>
                <a:cs typeface="Courier New"/>
              </a:rPr>
              <a:t>POLLUTED</a:t>
            </a:r>
          </a:p>
        </p:txBody>
      </p:sp>
      <p:sp>
        <p:nvSpPr>
          <p:cNvPr id="9" name="Litter changes the habitat.">
            <a:extLst xmlns:a="http://schemas.openxmlformats.org/drawingml/2006/main">
              <a:ext uri="{FF2B5EF4-FFF2-40B4-BE49-F238E27FC236}">
                <a16:creationId xmlns:a16="http://schemas.microsoft.com/office/drawing/2014/main" id="{0D88CB71-9975-4405-B4EA-EBB185F48432}"/>
              </a:ext>
            </a:extLst>
          </p:cNvPr>
          <p:cNvSpPr>
            <a:spLocks xmlns:a="http://schemas.openxmlformats.org/drawingml/2006/main" noGrp="1"/>
          </p:cNvSpPr>
          <p:nvPr/>
        </p:nvSpPr>
        <p:spPr>
          <a:xfrm xmlns:a="http://schemas.openxmlformats.org/drawingml/2006/main">
            <a:off x="5934075" y="4705350"/>
            <a:ext cx="2752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Litter changes the habitat.</a:t>
            </a:r>
          </a:p>
        </p:txBody>
      </p:sp>
    </p:spTree>
    <p:extLst>
      <p:ext uri="{BB962C8B-B14F-4D97-AF65-F5344CB8AC3E}">
        <p14:creationId xmlns:p14="http://schemas.microsoft.com/office/powerpoint/2010/main" val="1745409793"/>
      </p:ext>
    </p:extLst>
  </p:cSld>
</p:sld>
</file>

<file path=ppt/slides/slide3.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5" name="Three living habitats">
            <a:extLst xmlns:a="http://schemas.openxmlformats.org/drawingml/2006/main">
              <a:ext uri="{FF2B5EF4-FFF2-40B4-BE49-F238E27FC236}">
                <a16:creationId xmlns:a16="http://schemas.microsoft.com/office/drawing/2014/main" id="{B09FA206-1993-4E44-A288-897D3EC8E00F}"/>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Three living habitats</a:t>
            </a:r>
          </a:p>
        </p:txBody>
      </p:sp>
      <p:sp>
        <p:nvSpPr>
          <p:cNvPr id="2" name="Willow Grove">
            <a:extLst xmlns:a="http://schemas.openxmlformats.org/drawingml/2006/main">
              <a:ext uri="{FF2B5EF4-FFF2-40B4-BE49-F238E27FC236}">
                <a16:creationId xmlns:a16="http://schemas.microsoft.com/office/drawing/2014/main" id="{18D75266-AAB2-44E6-9C0D-0DA7A7AFD187}"/>
              </a:ext>
            </a:extLst>
          </p:cNvPr>
          <p:cNvSpPr>
            <a:spLocks xmlns:a="http://schemas.openxmlformats.org/drawingml/2006/main" noGrp="1"/>
          </p:cNvSpPr>
          <p:nvPr/>
        </p:nvSpPr>
        <p:spPr>
          <a:xfrm xmlns:a="http://schemas.openxmlformats.org/drawingml/2006/main">
            <a:off x="45720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Willow Grove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05bea1efc92446d"/>
          <a:srcRect xmlns:a="http://schemas.openxmlformats.org/drawingml/2006/main" l="0" t="22268" r="0" b="22268"/>
          <a:stretch xmlns:a="http://schemas.openxmlformats.org/drawingml/2006/main">
            <a:fillRect l="0" t="0" r="0" b="0"/>
          </a:stretch>
        </p:blipFill>
        <p:spPr>
          <a:xfrm xmlns:a="http://schemas.openxmlformats.org/drawingml/2006/main">
            <a:off x="457200" y="1476375"/>
            <a:ext cx="2628900" cy="25908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db7e6f9703435c"/>
          <a:stretch xmlns:a="http://schemas.openxmlformats.org/drawingml/2006/main"/>
        </p:blipFill>
        <p:spPr>
          <a:xfrm xmlns:a="http://schemas.openxmlformats.org/drawingml/2006/main">
            <a:off x="1942556" y="2990850"/>
            <a:ext cx="934538" cy="1019175"/>
          </a:xfrm>
          <a:prstGeom xmlns:a="http://schemas.openxmlformats.org/drawingml/2006/main" prst="rect">
            <a:avLst/>
          </a:prstGeom>
        </p:spPr>
      </p:pic>
      <p:sp>
        <p:nvSpPr>
          <p:cNvPr id="5" name="Leaves and pond ripples">
            <a:extLst xmlns:a="http://schemas.openxmlformats.org/drawingml/2006/main">
              <a:ext uri="{FF2B5EF4-FFF2-40B4-BE49-F238E27FC236}">
                <a16:creationId xmlns:a16="http://schemas.microsoft.com/office/drawing/2014/main" id="{324A0642-5626-4398-9847-A85185A37C50}"/>
              </a:ext>
            </a:extLst>
          </p:cNvPr>
          <p:cNvSpPr>
            <a:spLocks xmlns:a="http://schemas.openxmlformats.org/drawingml/2006/main" noGrp="1"/>
          </p:cNvSpPr>
          <p:nvPr/>
        </p:nvSpPr>
        <p:spPr>
          <a:xfrm xmlns:a="http://schemas.openxmlformats.org/drawingml/2006/main">
            <a:off x="45720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Leaves and pond ripples</a:t>
            </a:r>
          </a:p>
        </p:txBody>
      </p:sp>
      <p:sp>
        <p:nvSpPr>
          <p:cNvPr id="6" name="Coral Cove">
            <a:extLst xmlns:a="http://schemas.openxmlformats.org/drawingml/2006/main">
              <a:ext uri="{FF2B5EF4-FFF2-40B4-BE49-F238E27FC236}">
                <a16:creationId xmlns:a16="http://schemas.microsoft.com/office/drawing/2014/main" id="{F4B43EB2-67D7-42F3-80FF-6C9A0AC805F1}"/>
              </a:ext>
            </a:extLst>
          </p:cNvPr>
          <p:cNvSpPr>
            <a:spLocks xmlns:a="http://schemas.openxmlformats.org/drawingml/2006/main" noGrp="1"/>
          </p:cNvSpPr>
          <p:nvPr/>
        </p:nvSpPr>
        <p:spPr>
          <a:xfrm xmlns:a="http://schemas.openxmlformats.org/drawingml/2006/main">
            <a:off x="325755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Coral Cove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ac399b4930a42c3"/>
          <a:srcRect xmlns:a="http://schemas.openxmlformats.org/drawingml/2006/main" l="0" t="22268" r="0" b="22268"/>
          <a:stretch xmlns:a="http://schemas.openxmlformats.org/drawingml/2006/main">
            <a:fillRect l="0" t="0" r="0" b="0"/>
          </a:stretch>
        </p:blipFill>
        <p:spPr>
          <a:xfrm xmlns:a="http://schemas.openxmlformats.org/drawingml/2006/main">
            <a:off x="3257550" y="1476375"/>
            <a:ext cx="2628900" cy="25908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37c745bd07e4940"/>
          <a:stretch xmlns:a="http://schemas.openxmlformats.org/drawingml/2006/main"/>
        </p:blipFill>
        <p:spPr>
          <a:xfrm xmlns:a="http://schemas.openxmlformats.org/drawingml/2006/main">
            <a:off x="4724400" y="3150618"/>
            <a:ext cx="971550" cy="699638"/>
          </a:xfrm>
          <a:prstGeom xmlns:a="http://schemas.openxmlformats.org/drawingml/2006/main" prst="rect">
            <a:avLst/>
          </a:prstGeom>
        </p:spPr>
      </p:pic>
      <p:sp>
        <p:nvSpPr>
          <p:cNvPr id="9" name="Bubbles and swaying kelp">
            <a:extLst xmlns:a="http://schemas.openxmlformats.org/drawingml/2006/main">
              <a:ext uri="{FF2B5EF4-FFF2-40B4-BE49-F238E27FC236}">
                <a16:creationId xmlns:a16="http://schemas.microsoft.com/office/drawing/2014/main" id="{78E2975B-01D3-4BEF-BCCE-316C2153CE90}"/>
              </a:ext>
            </a:extLst>
          </p:cNvPr>
          <p:cNvSpPr>
            <a:spLocks xmlns:a="http://schemas.openxmlformats.org/drawingml/2006/main" noGrp="1"/>
          </p:cNvSpPr>
          <p:nvPr/>
        </p:nvSpPr>
        <p:spPr>
          <a:xfrm xmlns:a="http://schemas.openxmlformats.org/drawingml/2006/main">
            <a:off x="325755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Bubbles and swaying kelp</a:t>
            </a:r>
          </a:p>
        </p:txBody>
      </p:sp>
      <p:sp>
        <p:nvSpPr>
          <p:cNvPr id="10" name="Snow Glade">
            <a:extLst xmlns:a="http://schemas.openxmlformats.org/drawingml/2006/main">
              <a:ext uri="{FF2B5EF4-FFF2-40B4-BE49-F238E27FC236}">
                <a16:creationId xmlns:a16="http://schemas.microsoft.com/office/drawing/2014/main" id="{25EFB3C3-F2B5-4030-8394-D4E1C2E27511}"/>
              </a:ext>
            </a:extLst>
          </p:cNvPr>
          <p:cNvSpPr>
            <a:spLocks xmlns:a="http://schemas.openxmlformats.org/drawingml/2006/main" noGrp="1"/>
          </p:cNvSpPr>
          <p:nvPr/>
        </p:nvSpPr>
        <p:spPr>
          <a:xfrm xmlns:a="http://schemas.openxmlformats.org/drawingml/2006/main">
            <a:off x="6057900" y="10668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Snow Glade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c8ecd5000b44077"/>
          <a:srcRect xmlns:a="http://schemas.openxmlformats.org/drawingml/2006/main" l="0" t="22268" r="0" b="22268"/>
          <a:stretch xmlns:a="http://schemas.openxmlformats.org/drawingml/2006/main">
            <a:fillRect l="0" t="0" r="0" b="0"/>
          </a:stretch>
        </p:blipFill>
        <p:spPr>
          <a:xfrm xmlns:a="http://schemas.openxmlformats.org/drawingml/2006/main">
            <a:off x="6057900" y="1476375"/>
            <a:ext cx="2628900" cy="25908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f4290a1c0174099"/>
          <a:stretch xmlns:a="http://schemas.openxmlformats.org/drawingml/2006/main"/>
        </p:blipFill>
        <p:spPr>
          <a:xfrm xmlns:a="http://schemas.openxmlformats.org/drawingml/2006/main">
            <a:off x="7524750" y="3038195"/>
            <a:ext cx="971550" cy="924485"/>
          </a:xfrm>
          <a:prstGeom xmlns:a="http://schemas.openxmlformats.org/drawingml/2006/main" prst="rect">
            <a:avLst/>
          </a:prstGeom>
        </p:spPr>
      </p:pic>
      <p:sp>
        <p:nvSpPr>
          <p:cNvPr id="13" name="Snowfall and ice sparkles">
            <a:extLst xmlns:a="http://schemas.openxmlformats.org/drawingml/2006/main">
              <a:ext uri="{FF2B5EF4-FFF2-40B4-BE49-F238E27FC236}">
                <a16:creationId xmlns:a16="http://schemas.microsoft.com/office/drawing/2014/main" id="{39F2A1BC-263E-480C-AF6F-FFF08505B7A5}"/>
              </a:ext>
            </a:extLst>
          </p:cNvPr>
          <p:cNvSpPr>
            <a:spLocks xmlns:a="http://schemas.openxmlformats.org/drawingml/2006/main" noGrp="1"/>
          </p:cNvSpPr>
          <p:nvPr/>
        </p:nvSpPr>
        <p:spPr>
          <a:xfrm xmlns:a="http://schemas.openxmlformats.org/drawingml/2006/main">
            <a:off x="6057900" y="4181475"/>
            <a:ext cx="2628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44033"/>
                </a:solidFill>
                <a:latin typeface="Arial"/>
                <a:ea typeface="Arial"/>
                <a:cs typeface="Arial"/>
              </a:defRPr>
            </a:pPr>
            <a:r>
              <a:rPr sz="1350" b="0">
                <a:solidFill>
                  <a:srgbClr val="244033"/>
                </a:solidFill>
                <a:latin typeface="Arial"/>
                <a:ea typeface="Arial"/>
                <a:cs typeface="Arial"/>
              </a:rPr>
              <a:t>Snowfall and ice sparkles</a:t>
            </a:r>
          </a:p>
        </p:txBody>
      </p:sp>
      <p:sp>
        <p:nvSpPr>
          <p:cNvPr id="14" name="12 pets. Four conditions. Separate habitat progress.">
            <a:extLst xmlns:a="http://schemas.openxmlformats.org/drawingml/2006/main">
              <a:ext uri="{FF2B5EF4-FFF2-40B4-BE49-F238E27FC236}">
                <a16:creationId xmlns:a16="http://schemas.microsoft.com/office/drawing/2014/main" id="{51D03BB7-6548-4D66-9A6C-A625C7623090}"/>
              </a:ext>
            </a:extLst>
          </p:cNvPr>
          <p:cNvSpPr>
            <a:spLocks xmlns:a="http://schemas.openxmlformats.org/drawingml/2006/main" noGrp="1"/>
          </p:cNvSpPr>
          <p:nvPr/>
        </p:nvSpPr>
        <p:spPr>
          <a:xfrm xmlns:a="http://schemas.openxmlformats.org/drawingml/2006/main">
            <a:off x="457200" y="4676775"/>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4033"/>
                </a:solidFill>
                <a:latin typeface="Arial"/>
                <a:ea typeface="Arial"/>
                <a:cs typeface="Arial"/>
              </a:defRPr>
            </a:pPr>
            <a:r>
              <a:rPr sz="1725" b="1">
                <a:solidFill>
                  <a:srgbClr val="244033"/>
                </a:solidFill>
                <a:latin typeface="Arial"/>
                <a:ea typeface="Arial"/>
                <a:cs typeface="Arial"/>
              </a:rPr>
              <a:t>12 pets. Four conditions. Separate habitat progress.</a:t>
            </a:r>
          </a:p>
        </p:txBody>
      </p:sp>
    </p:spTree>
    <p:extLst>
      <p:ext uri="{BB962C8B-B14F-4D97-AF65-F5344CB8AC3E}">
        <p14:creationId xmlns:p14="http://schemas.microsoft.com/office/powerpoint/2010/main" val="1411338890"/>
      </p:ext>
    </p:extLst>
  </p:cSld>
</p:sld>
</file>

<file path=ppt/slides/slide4.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4" name="The recycling loop">
            <a:extLst xmlns:a="http://schemas.openxmlformats.org/drawingml/2006/main">
              <a:ext uri="{FF2B5EF4-FFF2-40B4-BE49-F238E27FC236}">
                <a16:creationId xmlns:a16="http://schemas.microsoft.com/office/drawing/2014/main" id="{083BB771-C673-49C6-BFC0-4744243DB471}"/>
              </a:ext>
            </a:extLst>
          </p:cNvPr>
          <p:cNvSpPr>
            <a:spLocks xmlns:a="http://schemas.openxmlformats.org/drawingml/2006/main" noGrp="1"/>
          </p:cNvSpPr>
          <p:nvPr/>
        </p:nvSpPr>
        <p:spPr>
          <a:xfrm xmlns:a="http://schemas.openxmlformats.org/drawingml/2006/main">
            <a:off x="457200" y="4095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The recycling loop</a:t>
            </a:r>
          </a:p>
        </p:txBody>
      </p:sp>
      <p:sp>
        <p:nvSpPr>
          <p:cNvPr id="2" name="Three photos in one camera session">
            <a:extLst xmlns:a="http://schemas.openxmlformats.org/drawingml/2006/main">
              <a:ext uri="{FF2B5EF4-FFF2-40B4-BE49-F238E27FC236}">
                <a16:creationId xmlns:a16="http://schemas.microsoft.com/office/drawing/2014/main" id="{337B35F7-0098-47DE-9B98-81E70ECA7AAE}"/>
              </a:ext>
            </a:extLst>
          </p:cNvPr>
          <p:cNvSpPr>
            <a:spLocks xmlns:a="http://schemas.openxmlformats.org/drawingml/2006/main" noGrp="1"/>
          </p:cNvSpPr>
          <p:nvPr/>
        </p:nvSpPr>
        <p:spPr>
          <a:xfrm xmlns:a="http://schemas.openxmlformats.org/drawingml/2006/main">
            <a:off x="457200" y="971550"/>
            <a:ext cx="822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4033"/>
                </a:solidFill>
                <a:latin typeface="Arial"/>
                <a:ea typeface="Arial"/>
                <a:cs typeface="Arial"/>
              </a:defRPr>
            </a:pPr>
            <a:r>
              <a:rPr sz="1725" b="0">
                <a:solidFill>
                  <a:srgbClr val="244033"/>
                </a:solidFill>
                <a:latin typeface="Arial"/>
                <a:ea typeface="Arial"/>
                <a:cs typeface="Arial"/>
              </a:rPr>
              <a:t>Three photos in one camera session</a:t>
            </a:r>
          </a:p>
        </p:txBody>
      </p:sp>
      <p:sp>
        <p:nvSpPr>
          <p:cNvPr id="3" name="01  Bin">
            <a:extLst xmlns:a="http://schemas.openxmlformats.org/drawingml/2006/main">
              <a:ext uri="{FF2B5EF4-FFF2-40B4-BE49-F238E27FC236}">
                <a16:creationId xmlns:a16="http://schemas.microsoft.com/office/drawing/2014/main" id="{F1A6E846-2163-4D34-AC88-C73F6D405C85}"/>
              </a:ext>
            </a:extLst>
          </p:cNvPr>
          <p:cNvSpPr>
            <a:spLocks xmlns:a="http://schemas.openxmlformats.org/drawingml/2006/main" noGrp="1"/>
          </p:cNvSpPr>
          <p:nvPr/>
        </p:nvSpPr>
        <p:spPr>
          <a:xfrm xmlns:a="http://schemas.openxmlformats.org/drawingml/2006/main">
            <a:off x="457200"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01  Bin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8b75a971f840dc"/>
          <a:srcRect xmlns:a="http://schemas.openxmlformats.org/drawingml/2006/main" l="0" t="1549" r="0" b="1549"/>
          <a:stretch xmlns:a="http://schemas.openxmlformats.org/drawingml/2006/main">
            <a:fillRect l="0" t="0" r="0" b="0"/>
          </a:stretch>
        </p:blipFill>
        <p:spPr>
          <a:xfrm xmlns:a="http://schemas.openxmlformats.org/drawingml/2006/main">
            <a:off x="457200" y="1866900"/>
            <a:ext cx="1743075" cy="2247900"/>
          </a:xfrm>
          <a:prstGeom xmlns:a="http://schemas.openxmlformats.org/drawingml/2006/main" prst="rect">
            <a:avLst/>
          </a:prstGeom>
        </p:spPr>
      </p:pic>
      <p:sp>
        <p:nvSpPr>
          <p:cNvPr id="5" name="02  Item">
            <a:extLst xmlns:a="http://schemas.openxmlformats.org/drawingml/2006/main">
              <a:ext uri="{FF2B5EF4-FFF2-40B4-BE49-F238E27FC236}">
                <a16:creationId xmlns:a16="http://schemas.microsoft.com/office/drawing/2014/main" id="{08502BA5-7953-4B1B-9BF0-EB1DA2EFDC14}"/>
              </a:ext>
            </a:extLst>
          </p:cNvPr>
          <p:cNvSpPr>
            <a:spLocks xmlns:a="http://schemas.openxmlformats.org/drawingml/2006/main" noGrp="1"/>
          </p:cNvSpPr>
          <p:nvPr/>
        </p:nvSpPr>
        <p:spPr>
          <a:xfrm xmlns:a="http://schemas.openxmlformats.org/drawingml/2006/main">
            <a:off x="2428875"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02  Item</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93c5e5ce2654c76"/>
          <a:srcRect xmlns:a="http://schemas.openxmlformats.org/drawingml/2006/main" l="0" t="1549" r="0" b="1549"/>
          <a:stretch xmlns:a="http://schemas.openxmlformats.org/drawingml/2006/main">
            <a:fillRect l="0" t="0" r="0" b="0"/>
          </a:stretch>
        </p:blipFill>
        <p:spPr>
          <a:xfrm xmlns:a="http://schemas.openxmlformats.org/drawingml/2006/main">
            <a:off x="2428875" y="1866900"/>
            <a:ext cx="1743075" cy="2247900"/>
          </a:xfrm>
          <a:prstGeom xmlns:a="http://schemas.openxmlformats.org/drawingml/2006/main" prst="rect">
            <a:avLst/>
          </a:prstGeom>
        </p:spPr>
      </p:pic>
      <p:sp>
        <p:nvSpPr>
          <p:cNvPr id="7" name="03  Disposal">
            <a:extLst xmlns:a="http://schemas.openxmlformats.org/drawingml/2006/main">
              <a:ext uri="{FF2B5EF4-FFF2-40B4-BE49-F238E27FC236}">
                <a16:creationId xmlns:a16="http://schemas.microsoft.com/office/drawing/2014/main" id="{C8AC85EE-2F46-42E3-8366-C381F96952D3}"/>
              </a:ext>
            </a:extLst>
          </p:cNvPr>
          <p:cNvSpPr>
            <a:spLocks xmlns:a="http://schemas.openxmlformats.org/drawingml/2006/main" noGrp="1"/>
          </p:cNvSpPr>
          <p:nvPr/>
        </p:nvSpPr>
        <p:spPr>
          <a:xfrm xmlns:a="http://schemas.openxmlformats.org/drawingml/2006/main">
            <a:off x="4400550" y="14763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4033"/>
                </a:solidFill>
                <a:latin typeface="Courier New"/>
                <a:ea typeface="Courier New"/>
                <a:cs typeface="Courier New"/>
              </a:defRPr>
            </a:pPr>
            <a:r>
              <a:rPr sz="1800" b="1">
                <a:solidFill>
                  <a:srgbClr val="244033"/>
                </a:solidFill>
                <a:latin typeface="Courier New"/>
                <a:ea typeface="Courier New"/>
                <a:cs typeface="Courier New"/>
              </a:rPr>
              <a:t>03  Disposal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56dda78764146ae"/>
          <a:srcRect xmlns:a="http://schemas.openxmlformats.org/drawingml/2006/main" l="0" t="1549" r="0" b="1549"/>
          <a:stretch xmlns:a="http://schemas.openxmlformats.org/drawingml/2006/main">
            <a:fillRect l="0" t="0" r="0" b="0"/>
          </a:stretch>
        </p:blipFill>
        <p:spPr>
          <a:xfrm xmlns:a="http://schemas.openxmlformats.org/drawingml/2006/main">
            <a:off x="4400550" y="1866900"/>
            <a:ext cx="1743075" cy="22479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306dd2734134d7c"/>
          <a:stretch xmlns:a="http://schemas.openxmlformats.org/drawingml/2006/main"/>
        </p:blipFill>
        <p:spPr>
          <a:xfrm xmlns:a="http://schemas.openxmlformats.org/drawingml/2006/main">
            <a:off x="7120272" y="1638300"/>
            <a:ext cx="808957" cy="981075"/>
          </a:xfrm>
          <a:prstGeom xmlns:a="http://schemas.openxmlformats.org/drawingml/2006/main" prst="rect">
            <a:avLst/>
          </a:prstGeom>
        </p:spPr>
      </p:pic>
      <p:sp>
        <p:nvSpPr>
          <p:cNvPr id="10" name="20 leaves">
            <a:extLst xmlns:a="http://schemas.openxmlformats.org/drawingml/2006/main">
              <a:ext uri="{FF2B5EF4-FFF2-40B4-BE49-F238E27FC236}">
                <a16:creationId xmlns:a16="http://schemas.microsoft.com/office/drawing/2014/main" id="{FC3B3E77-0E4B-445F-9EC1-1E4E612A8512}"/>
              </a:ext>
            </a:extLst>
          </p:cNvPr>
          <p:cNvSpPr>
            <a:spLocks xmlns:a="http://schemas.openxmlformats.org/drawingml/2006/main" noGrp="1"/>
          </p:cNvSpPr>
          <p:nvPr/>
        </p:nvSpPr>
        <p:spPr>
          <a:xfrm xmlns:a="http://schemas.openxmlformats.org/drawingml/2006/main">
            <a:off x="6505575" y="2819400"/>
            <a:ext cx="2181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244033"/>
                </a:solidFill>
                <a:latin typeface="Courier New"/>
                <a:ea typeface="Courier New"/>
                <a:cs typeface="Courier New"/>
              </a:defRPr>
            </a:pPr>
            <a:r>
              <a:rPr sz="2325" b="1">
                <a:solidFill>
                  <a:srgbClr val="244033"/>
                </a:solidFill>
                <a:latin typeface="Courier New"/>
                <a:ea typeface="Courier New"/>
                <a:cs typeface="Courier New"/>
              </a:rPr>
              <a:t>20 leaves</a:t>
            </a:r>
          </a:p>
        </p:txBody>
      </p:sp>
      <p:sp>
        <p:nvSpPr>
          <p:cNvPr id="11" name="1 piece of virtual&#10;litter cleared">
            <a:extLst xmlns:a="http://schemas.openxmlformats.org/drawingml/2006/main">
              <a:ext uri="{FF2B5EF4-FFF2-40B4-BE49-F238E27FC236}">
                <a16:creationId xmlns:a16="http://schemas.microsoft.com/office/drawing/2014/main" id="{C8B595C9-D6F6-41C9-9BD3-7262A81549E0}"/>
              </a:ext>
            </a:extLst>
          </p:cNvPr>
          <p:cNvSpPr>
            <a:spLocks xmlns:a="http://schemas.openxmlformats.org/drawingml/2006/main" noGrp="1"/>
          </p:cNvSpPr>
          <p:nvPr/>
        </p:nvSpPr>
        <p:spPr>
          <a:xfrm xmlns:a="http://schemas.openxmlformats.org/drawingml/2006/main">
            <a:off x="6496050" y="3371850"/>
            <a:ext cx="2209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244033"/>
                </a:solidFill>
                <a:latin typeface="Arial"/>
                <a:ea typeface="Arial"/>
                <a:cs typeface="Arial"/>
              </a:defRPr>
            </a:pPr>
            <a:r>
              <a:rPr sz="1800" b="0">
                <a:solidFill>
                  <a:srgbClr val="244033"/>
                </a:solidFill>
                <a:latin typeface="Arial"/>
                <a:ea typeface="Arial"/>
                <a:cs typeface="Arial"/>
              </a:rPr>
              <a:t>1 piece of virtual</a:t>
            </a:r>
          </a:p>
          <a:p xmlns:a="http://schemas.openxmlformats.org/drawingml/2006/main">
            <a:pPr algn="ctr">
              <a:defRPr sz="1800" b="0">
                <a:solidFill>
                  <a:srgbClr val="244033"/>
                </a:solidFill>
                <a:latin typeface="Arial"/>
                <a:ea typeface="Arial"/>
                <a:cs typeface="Arial"/>
              </a:defRPr>
            </a:pPr>
            <a:r>
              <a:rPr sz="1800" b="0">
                <a:solidFill>
                  <a:srgbClr val="244033"/>
                </a:solidFill>
                <a:latin typeface="Arial"/>
                <a:ea typeface="Arial"/>
                <a:cs typeface="Arial"/>
              </a:rPr>
              <a:t>litter cleared</a:t>
            </a:r>
          </a:p>
        </p:txBody>
      </p:sp>
      <p:sp>
        <p:nvSpPr>
          <p:cNvPr id="12" name="Demo mode accepts the captures automatically.">
            <a:extLst xmlns:a="http://schemas.openxmlformats.org/drawingml/2006/main">
              <a:ext uri="{FF2B5EF4-FFF2-40B4-BE49-F238E27FC236}">
                <a16:creationId xmlns:a16="http://schemas.microsoft.com/office/drawing/2014/main" id="{0EE56DBE-E4F8-4CC2-8C80-6B594E1E9701}"/>
              </a:ext>
            </a:extLst>
          </p:cNvPr>
          <p:cNvSpPr>
            <a:spLocks xmlns:a="http://schemas.openxmlformats.org/drawingml/2006/main" noGrp="1"/>
          </p:cNvSpPr>
          <p:nvPr/>
        </p:nvSpPr>
        <p:spPr>
          <a:xfrm xmlns:a="http://schemas.openxmlformats.org/drawingml/2006/main">
            <a:off x="457200" y="4391025"/>
            <a:ext cx="8229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4033"/>
                </a:solidFill>
                <a:latin typeface="Arial"/>
                <a:ea typeface="Arial"/>
                <a:cs typeface="Arial"/>
              </a:defRPr>
            </a:pPr>
            <a:r>
              <a:rPr sz="1725" b="1">
                <a:solidFill>
                  <a:srgbClr val="244033"/>
                </a:solidFill>
                <a:latin typeface="Arial"/>
                <a:ea typeface="Arial"/>
                <a:cs typeface="Arial"/>
              </a:rPr>
              <a:t>Demo mode accepts the captures automatically.</a:t>
            </a:r>
          </a:p>
        </p:txBody>
      </p:sp>
      <p:sp>
        <p:nvSpPr>
          <p:cNvPr id="13" name="Optional AI review checks visible evidence.">
            <a:extLst xmlns:a="http://schemas.openxmlformats.org/drawingml/2006/main">
              <a:ext uri="{FF2B5EF4-FFF2-40B4-BE49-F238E27FC236}">
                <a16:creationId xmlns:a16="http://schemas.microsoft.com/office/drawing/2014/main" id="{7677D849-10CA-4825-918F-A07300E7EFE9}"/>
              </a:ext>
            </a:extLst>
          </p:cNvPr>
          <p:cNvSpPr>
            <a:spLocks xmlns:a="http://schemas.openxmlformats.org/drawingml/2006/main" noGrp="1"/>
          </p:cNvSpPr>
          <p:nvPr/>
        </p:nvSpPr>
        <p:spPr>
          <a:xfrm xmlns:a="http://schemas.openxmlformats.org/drawingml/2006/main">
            <a:off x="457200" y="4724400"/>
            <a:ext cx="822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7060"/>
                </a:solidFill>
                <a:latin typeface="Arial"/>
                <a:ea typeface="Arial"/>
                <a:cs typeface="Arial"/>
              </a:defRPr>
            </a:pPr>
            <a:r>
              <a:rPr sz="1500" b="0">
                <a:solidFill>
                  <a:srgbClr val="527060"/>
                </a:solidFill>
                <a:latin typeface="Arial"/>
                <a:ea typeface="Arial"/>
                <a:cs typeface="Arial"/>
              </a:rPr>
              <a:t>Optional AI review checks visible evidence.</a:t>
            </a:r>
          </a:p>
        </p:txBody>
      </p:sp>
    </p:spTree>
    <p:extLst>
      <p:ext uri="{BB962C8B-B14F-4D97-AF65-F5344CB8AC3E}">
        <p14:creationId xmlns:p14="http://schemas.microsoft.com/office/powerpoint/2010/main" val="274615640"/>
      </p:ext>
    </p:extLst>
  </p:cSld>
</p:sld>
</file>

<file path=ppt/slides/slide5.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sp>
        <p:nvSpPr>
          <p:cNvPr id="10" name="A habitat worth&#10;returning to">
            <a:extLst xmlns:a="http://schemas.openxmlformats.org/drawingml/2006/main">
              <a:ext uri="{FF2B5EF4-FFF2-40B4-BE49-F238E27FC236}">
                <a16:creationId xmlns:a16="http://schemas.microsoft.com/office/drawing/2014/main" id="{D0492702-8915-4E47-A0FF-EAA01A2332F7}"/>
              </a:ext>
            </a:extLst>
          </p:cNvPr>
          <p:cNvSpPr>
            <a:spLocks xmlns:a="http://schemas.openxmlformats.org/drawingml/2006/main" noGrp="1"/>
          </p:cNvSpPr>
          <p:nvPr/>
        </p:nvSpPr>
        <p:spPr>
          <a:xfrm xmlns:a="http://schemas.openxmlformats.org/drawingml/2006/main">
            <a:off x="457200" y="447675"/>
            <a:ext cx="559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A habitat worth</a:t>
            </a:r>
          </a:p>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returning to</a:t>
            </a:r>
          </a:p>
        </p:txBody>
      </p:sp>
      <p:sp>
        <p:nvSpPr>
          <p:cNvPr id="2" name="Pets that respond">
            <a:extLst xmlns:a="http://schemas.openxmlformats.org/drawingml/2006/main">
              <a:ext uri="{FF2B5EF4-FFF2-40B4-BE49-F238E27FC236}">
                <a16:creationId xmlns:a16="http://schemas.microsoft.com/office/drawing/2014/main" id="{83E5ED1B-8557-442F-87C7-147214D4510D}"/>
              </a:ext>
            </a:extLst>
          </p:cNvPr>
          <p:cNvSpPr>
            <a:spLocks xmlns:a="http://schemas.openxmlformats.org/drawingml/2006/main" noGrp="1"/>
          </p:cNvSpPr>
          <p:nvPr/>
        </p:nvSpPr>
        <p:spPr>
          <a:xfrm xmlns:a="http://schemas.openxmlformats.org/drawingml/2006/main">
            <a:off x="457200" y="1838325"/>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Pets that respond</a:t>
            </a:r>
          </a:p>
        </p:txBody>
      </p:sp>
      <p:sp>
        <p:nvSpPr>
          <p:cNvPr id="3" name="Tap to pet. Drag, toss, and feed&#10;your pixel friends.">
            <a:extLst xmlns:a="http://schemas.openxmlformats.org/drawingml/2006/main">
              <a:ext uri="{FF2B5EF4-FFF2-40B4-BE49-F238E27FC236}">
                <a16:creationId xmlns:a16="http://schemas.microsoft.com/office/drawing/2014/main" id="{0E036EA6-A176-4F59-8487-769815AF67F3}"/>
              </a:ext>
            </a:extLst>
          </p:cNvPr>
          <p:cNvSpPr>
            <a:spLocks xmlns:a="http://schemas.openxmlformats.org/drawingml/2006/main" noGrp="1"/>
          </p:cNvSpPr>
          <p:nvPr/>
        </p:nvSpPr>
        <p:spPr>
          <a:xfrm xmlns:a="http://schemas.openxmlformats.org/drawingml/2006/main">
            <a:off x="457200" y="2219325"/>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Tap to pet. Drag, toss, and feed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your pixel friends.</a:t>
            </a:r>
          </a:p>
        </p:txBody>
      </p:sp>
      <p:sp>
        <p:nvSpPr>
          <p:cNvPr id="4" name="Your own arrangement">
            <a:extLst xmlns:a="http://schemas.openxmlformats.org/drawingml/2006/main">
              <a:ext uri="{FF2B5EF4-FFF2-40B4-BE49-F238E27FC236}">
                <a16:creationId xmlns:a16="http://schemas.microsoft.com/office/drawing/2014/main" id="{EAB123E3-1702-45EA-96E6-75D03DD31235}"/>
              </a:ext>
            </a:extLst>
          </p:cNvPr>
          <p:cNvSpPr>
            <a:spLocks xmlns:a="http://schemas.openxmlformats.org/drawingml/2006/main" noGrp="1"/>
          </p:cNvSpPr>
          <p:nvPr/>
        </p:nvSpPr>
        <p:spPr>
          <a:xfrm xmlns:a="http://schemas.openxmlformats.org/drawingml/2006/main">
            <a:off x="457200" y="2895600"/>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Your own arrangement</a:t>
            </a:r>
          </a:p>
        </p:txBody>
      </p:sp>
      <p:sp>
        <p:nvSpPr>
          <p:cNvPr id="5" name="Buy decorations with leaves,&#10;then move and lock them.">
            <a:extLst xmlns:a="http://schemas.openxmlformats.org/drawingml/2006/main">
              <a:ext uri="{FF2B5EF4-FFF2-40B4-BE49-F238E27FC236}">
                <a16:creationId xmlns:a16="http://schemas.microsoft.com/office/drawing/2014/main" id="{618CEBE8-89D3-467F-B44A-AD019EDDB758}"/>
              </a:ext>
            </a:extLst>
          </p:cNvPr>
          <p:cNvSpPr>
            <a:spLocks xmlns:a="http://schemas.openxmlformats.org/drawingml/2006/main" noGrp="1"/>
          </p:cNvSpPr>
          <p:nvPr/>
        </p:nvSpPr>
        <p:spPr>
          <a:xfrm xmlns:a="http://schemas.openxmlformats.org/drawingml/2006/main">
            <a:off x="457200" y="3276600"/>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Buy decorations with leaves,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then move and lock them.</a:t>
            </a:r>
          </a:p>
        </p:txBody>
      </p:sp>
      <p:sp>
        <p:nvSpPr>
          <p:cNvPr id="6" name="Help beyond the habitat">
            <a:extLst xmlns:a="http://schemas.openxmlformats.org/drawingml/2006/main">
              <a:ext uri="{FF2B5EF4-FFF2-40B4-BE49-F238E27FC236}">
                <a16:creationId xmlns:a16="http://schemas.microsoft.com/office/drawing/2014/main" id="{2D97EDDE-10B3-4FBD-9C89-3379B86F5474}"/>
              </a:ext>
            </a:extLst>
          </p:cNvPr>
          <p:cNvSpPr>
            <a:spLocks xmlns:a="http://schemas.openxmlformats.org/drawingml/2006/main" noGrp="1"/>
          </p:cNvSpPr>
          <p:nvPr/>
        </p:nvSpPr>
        <p:spPr>
          <a:xfrm xmlns:a="http://schemas.openxmlformats.org/drawingml/2006/main">
            <a:off x="457200" y="3952875"/>
            <a:ext cx="5562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Help beyond the habitat</a:t>
            </a:r>
          </a:p>
        </p:txBody>
      </p:sp>
      <p:sp>
        <p:nvSpPr>
          <p:cNvPr id="7" name="Find nearby recycling locations&#10;and open directions in Apple Maps">
            <a:extLst xmlns:a="http://schemas.openxmlformats.org/drawingml/2006/main">
              <a:ext uri="{FF2B5EF4-FFF2-40B4-BE49-F238E27FC236}">
                <a16:creationId xmlns:a16="http://schemas.microsoft.com/office/drawing/2014/main" id="{06DA4D0B-ABC9-4870-A667-85D3E846E974}"/>
              </a:ext>
            </a:extLst>
          </p:cNvPr>
          <p:cNvSpPr>
            <a:spLocks xmlns:a="http://schemas.openxmlformats.org/drawingml/2006/main" noGrp="1"/>
          </p:cNvSpPr>
          <p:nvPr/>
        </p:nvSpPr>
        <p:spPr>
          <a:xfrm xmlns:a="http://schemas.openxmlformats.org/drawingml/2006/main">
            <a:off x="457200" y="4333875"/>
            <a:ext cx="5514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Find nearby recycling locations</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and open directions in Apple Maps.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bba30c0a4d64a6f"/>
          <a:stretch xmlns:a="http://schemas.openxmlformats.org/drawingml/2006/main"/>
        </p:blipFill>
        <p:spPr>
          <a:xfrm xmlns:a="http://schemas.openxmlformats.org/drawingml/2006/main">
            <a:off x="6534150" y="232328"/>
            <a:ext cx="2152650" cy="4345468"/>
          </a:xfrm>
          <a:prstGeom xmlns:a="http://schemas.openxmlformats.org/drawingml/2006/main" prst="rect">
            <a:avLst/>
          </a:prstGeom>
        </p:spPr>
      </p:pic>
      <p:sp>
        <p:nvSpPr>
          <p:cNvPr id="9" name="iPhone prototype">
            <a:extLst xmlns:a="http://schemas.openxmlformats.org/drawingml/2006/main">
              <a:ext uri="{FF2B5EF4-FFF2-40B4-BE49-F238E27FC236}">
                <a16:creationId xmlns:a16="http://schemas.microsoft.com/office/drawing/2014/main" id="{AC54BBBB-C591-4473-9EDA-7C33E345219C}"/>
              </a:ext>
            </a:extLst>
          </p:cNvPr>
          <p:cNvSpPr>
            <a:spLocks xmlns:a="http://schemas.openxmlformats.org/drawingml/2006/main" noGrp="1"/>
          </p:cNvSpPr>
          <p:nvPr/>
        </p:nvSpPr>
        <p:spPr>
          <a:xfrm xmlns:a="http://schemas.openxmlformats.org/drawingml/2006/main">
            <a:off x="6457950" y="4676775"/>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527060"/>
                </a:solidFill>
                <a:latin typeface="Courier New"/>
                <a:ea typeface="Courier New"/>
                <a:cs typeface="Courier New"/>
              </a:defRPr>
            </a:pPr>
            <a:r>
              <a:rPr sz="1425" b="0">
                <a:solidFill>
                  <a:srgbClr val="527060"/>
                </a:solidFill>
                <a:latin typeface="Courier New"/>
                <a:ea typeface="Courier New"/>
                <a:cs typeface="Courier New"/>
              </a:rPr>
              <a:t>iPhone prototype</a:t>
            </a:r>
          </a:p>
        </p:txBody>
      </p:sp>
    </p:spTree>
    <p:extLst>
      <p:ext uri="{BB962C8B-B14F-4D97-AF65-F5344CB8AC3E}">
        <p14:creationId xmlns:p14="http://schemas.microsoft.com/office/powerpoint/2010/main" val="1820572752"/>
      </p:ext>
    </p:extLst>
  </p:cSld>
</p:sld>
</file>

<file path=ppt/slides/slide6.xml><?xml version="1.0" encoding="utf-8"?>
<p:sld xmlns:p="http://schemas.openxmlformats.org/presentationml/2006/main">
  <p:cSld>
    <p:bg>
      <p:bgPr>
        <a:solidFill xmlns:a="http://schemas.openxmlformats.org/drawingml/2006/main">
          <a:srgbClr val="244033"/>
        </a:solidFill>
      </p:bgPr>
    </p:bg>
    <p:spTree>
      <p:nvGrpSpPr>
        <p:cNvPr id="1" name=""/>
        <p:cNvGrpSpPr/>
        <p:nvPr/>
      </p:nvGrpSpPr>
      <p:grpSpPr>
        <a:xfrm xmlns:a="http://schemas.openxmlformats.org/drawingml/2006/main"/>
      </p:grpSpPr>
      <p:sp>
        <p:nvSpPr>
          <p:cNvPr id="12" name="Built for iPhone">
            <a:extLst xmlns:a="http://schemas.openxmlformats.org/drawingml/2006/main">
              <a:ext uri="{FF2B5EF4-FFF2-40B4-BE49-F238E27FC236}">
                <a16:creationId xmlns:a16="http://schemas.microsoft.com/office/drawing/2014/main" id="{219850CF-4BD1-4A47-BA92-D5E9EF5D4D12}"/>
              </a:ext>
            </a:extLst>
          </p:cNvPr>
          <p:cNvSpPr>
            <a:spLocks xmlns:a="http://schemas.openxmlformats.org/drawingml/2006/main" noGrp="1"/>
          </p:cNvSpPr>
          <p:nvPr/>
        </p:nvSpPr>
        <p:spPr>
          <a:xfrm xmlns:a="http://schemas.openxmlformats.org/drawingml/2006/main">
            <a:off x="457200" y="409575"/>
            <a:ext cx="8229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CED"/>
                </a:solidFill>
                <a:latin typeface="Courier New"/>
                <a:ea typeface="Courier New"/>
                <a:cs typeface="Courier New"/>
              </a:defRPr>
            </a:pPr>
            <a:r>
              <a:rPr sz="3000" b="1">
                <a:solidFill>
                  <a:srgbClr val="FFFCED"/>
                </a:solidFill>
                <a:latin typeface="Courier New"/>
                <a:ea typeface="Courier New"/>
                <a:cs typeface="Courier New"/>
              </a:rPr>
              <a:t>Built for iPhone</a:t>
            </a:r>
          </a:p>
        </p:txBody>
      </p:sp>
      <p:sp>
        <p:nvSpPr>
          <p:cNvPr id="2" name="SwiftUI + AVFoundation">
            <a:extLst xmlns:a="http://schemas.openxmlformats.org/drawingml/2006/main">
              <a:ext uri="{FF2B5EF4-FFF2-40B4-BE49-F238E27FC236}">
                <a16:creationId xmlns:a16="http://schemas.microsoft.com/office/drawing/2014/main" id="{EE18E648-76AA-47F9-8BFA-57D42EC9AC3C}"/>
              </a:ext>
            </a:extLst>
          </p:cNvPr>
          <p:cNvSpPr>
            <a:spLocks xmlns:a="http://schemas.openxmlformats.org/drawingml/2006/main" noGrp="1"/>
          </p:cNvSpPr>
          <p:nvPr/>
        </p:nvSpPr>
        <p:spPr>
          <a:xfrm xmlns:a="http://schemas.openxmlformats.org/drawingml/2006/main">
            <a:off x="457200" y="13430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SwiftUI + AVFoundation</a:t>
            </a:r>
          </a:p>
        </p:txBody>
      </p:sp>
      <p:sp>
        <p:nvSpPr>
          <p:cNvPr id="3" name="Native habitat, camera capture,&#10;sound, and haptics.">
            <a:extLst xmlns:a="http://schemas.openxmlformats.org/drawingml/2006/main">
              <a:ext uri="{FF2B5EF4-FFF2-40B4-BE49-F238E27FC236}">
                <a16:creationId xmlns:a16="http://schemas.microsoft.com/office/drawing/2014/main" id="{3FCE3BFD-7567-48B9-91E6-001D964B8321}"/>
              </a:ext>
            </a:extLst>
          </p:cNvPr>
          <p:cNvSpPr>
            <a:spLocks xmlns:a="http://schemas.openxmlformats.org/drawingml/2006/main" noGrp="1"/>
          </p:cNvSpPr>
          <p:nvPr/>
        </p:nvSpPr>
        <p:spPr>
          <a:xfrm xmlns:a="http://schemas.openxmlformats.org/drawingml/2006/main">
            <a:off x="457200" y="1828800"/>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Native habitat, camera capture,</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sound, and haptics.</a:t>
            </a:r>
          </a:p>
        </p:txBody>
      </p:sp>
      <p:sp>
        <p:nvSpPr>
          <p:cNvPr id="4" name="Local progress">
            <a:extLst xmlns:a="http://schemas.openxmlformats.org/drawingml/2006/main">
              <a:ext uri="{FF2B5EF4-FFF2-40B4-BE49-F238E27FC236}">
                <a16:creationId xmlns:a16="http://schemas.microsoft.com/office/drawing/2014/main" id="{22D07601-C6E5-4382-ACB3-8990ADF9B7FF}"/>
              </a:ext>
            </a:extLst>
          </p:cNvPr>
          <p:cNvSpPr>
            <a:spLocks xmlns:a="http://schemas.openxmlformats.org/drawingml/2006/main" noGrp="1"/>
          </p:cNvSpPr>
          <p:nvPr/>
        </p:nvSpPr>
        <p:spPr>
          <a:xfrm xmlns:a="http://schemas.openxmlformats.org/drawingml/2006/main">
            <a:off x="4876800" y="13430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Local progress</a:t>
            </a:r>
          </a:p>
        </p:txBody>
      </p:sp>
      <p:sp>
        <p:nvSpPr>
          <p:cNvPr id="5" name="Pets, leaves, journal, and layouts&#10;persist on the device.">
            <a:extLst xmlns:a="http://schemas.openxmlformats.org/drawingml/2006/main">
              <a:ext uri="{FF2B5EF4-FFF2-40B4-BE49-F238E27FC236}">
                <a16:creationId xmlns:a16="http://schemas.microsoft.com/office/drawing/2014/main" id="{0A457122-72CC-42CE-B35A-1943C9020480}"/>
              </a:ext>
            </a:extLst>
          </p:cNvPr>
          <p:cNvSpPr>
            <a:spLocks xmlns:a="http://schemas.openxmlformats.org/drawingml/2006/main" noGrp="1"/>
          </p:cNvSpPr>
          <p:nvPr/>
        </p:nvSpPr>
        <p:spPr>
          <a:xfrm xmlns:a="http://schemas.openxmlformats.org/drawingml/2006/main">
            <a:off x="4876800" y="1828800"/>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Pets, leaves, journal, and layouts</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persist on the device.</a:t>
            </a:r>
          </a:p>
        </p:txBody>
      </p:sp>
      <p:sp>
        <p:nvSpPr>
          <p:cNvPr id="6" name="MapKit + public data">
            <a:extLst xmlns:a="http://schemas.openxmlformats.org/drawingml/2006/main">
              <a:ext uri="{FF2B5EF4-FFF2-40B4-BE49-F238E27FC236}">
                <a16:creationId xmlns:a16="http://schemas.microsoft.com/office/drawing/2014/main" id="{ACB41367-EEBB-4D23-B1BE-AC9E4CCD2BF1}"/>
              </a:ext>
            </a:extLst>
          </p:cNvPr>
          <p:cNvSpPr>
            <a:spLocks xmlns:a="http://schemas.openxmlformats.org/drawingml/2006/main" noGrp="1"/>
          </p:cNvSpPr>
          <p:nvPr/>
        </p:nvSpPr>
        <p:spPr>
          <a:xfrm xmlns:a="http://schemas.openxmlformats.org/drawingml/2006/main">
            <a:off x="457200" y="2819400"/>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MapKit + public data</a:t>
            </a:r>
          </a:p>
        </p:txBody>
      </p:sp>
      <p:sp>
        <p:nvSpPr>
          <p:cNvPr id="7" name="OpenStreetMap recycling points,&#10;plus Houston city facilities.">
            <a:extLst xmlns:a="http://schemas.openxmlformats.org/drawingml/2006/main">
              <a:ext uri="{FF2B5EF4-FFF2-40B4-BE49-F238E27FC236}">
                <a16:creationId xmlns:a16="http://schemas.microsoft.com/office/drawing/2014/main" id="{4F1B973D-58CF-4D9E-B3D4-7C69428B280F}"/>
              </a:ext>
            </a:extLst>
          </p:cNvPr>
          <p:cNvSpPr>
            <a:spLocks xmlns:a="http://schemas.openxmlformats.org/drawingml/2006/main" noGrp="1"/>
          </p:cNvSpPr>
          <p:nvPr/>
        </p:nvSpPr>
        <p:spPr>
          <a:xfrm xmlns:a="http://schemas.openxmlformats.org/drawingml/2006/main">
            <a:off x="457200" y="3305175"/>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OpenStreetMap recycling points,</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plus Houston city facilities.</a:t>
            </a:r>
          </a:p>
        </p:txBody>
      </p:sp>
      <p:sp>
        <p:nvSpPr>
          <p:cNvPr id="8" name="Optional Gemini review">
            <a:extLst xmlns:a="http://schemas.openxmlformats.org/drawingml/2006/main">
              <a:ext uri="{FF2B5EF4-FFF2-40B4-BE49-F238E27FC236}">
                <a16:creationId xmlns:a16="http://schemas.microsoft.com/office/drawing/2014/main" id="{2223B6C9-B634-4ECD-B6AF-7436B5BAE2AB}"/>
              </a:ext>
            </a:extLst>
          </p:cNvPr>
          <p:cNvSpPr>
            <a:spLocks xmlns:a="http://schemas.openxmlformats.org/drawingml/2006/main" noGrp="1"/>
          </p:cNvSpPr>
          <p:nvPr/>
        </p:nvSpPr>
        <p:spPr>
          <a:xfrm xmlns:a="http://schemas.openxmlformats.org/drawingml/2006/main">
            <a:off x="4876800" y="2819400"/>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FDEA8"/>
                </a:solidFill>
                <a:latin typeface="Courier New"/>
                <a:ea typeface="Courier New"/>
                <a:cs typeface="Courier New"/>
              </a:defRPr>
            </a:pPr>
            <a:r>
              <a:rPr sz="1875" b="1">
                <a:solidFill>
                  <a:srgbClr val="CFDEA8"/>
                </a:solidFill>
                <a:latin typeface="Courier New"/>
                <a:ea typeface="Courier New"/>
                <a:cs typeface="Courier New"/>
              </a:rPr>
              <a:t>Optional Gemini review</a:t>
            </a:r>
          </a:p>
        </p:txBody>
      </p:sp>
      <p:sp>
        <p:nvSpPr>
          <p:cNvPr id="9" name="A Node.js server sends three&#10;photos in one request.">
            <a:extLst xmlns:a="http://schemas.openxmlformats.org/drawingml/2006/main">
              <a:ext uri="{FF2B5EF4-FFF2-40B4-BE49-F238E27FC236}">
                <a16:creationId xmlns:a16="http://schemas.microsoft.com/office/drawing/2014/main" id="{E3220B2B-B936-44D6-BBC8-083455421BAC}"/>
              </a:ext>
            </a:extLst>
          </p:cNvPr>
          <p:cNvSpPr>
            <a:spLocks xmlns:a="http://schemas.openxmlformats.org/drawingml/2006/main" noGrp="1"/>
          </p:cNvSpPr>
          <p:nvPr/>
        </p:nvSpPr>
        <p:spPr>
          <a:xfrm xmlns:a="http://schemas.openxmlformats.org/drawingml/2006/main">
            <a:off x="4876800" y="3305175"/>
            <a:ext cx="3829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A Node.js server sends three</a:t>
            </a:r>
          </a:p>
          <a:p xmlns:a="http://schemas.openxmlformats.org/drawingml/2006/main">
            <a:pPr algn="l">
              <a:defRPr sz="1650" b="0">
                <a:solidFill>
                  <a:srgbClr val="FFFCED"/>
                </a:solidFill>
                <a:latin typeface="Arial"/>
                <a:ea typeface="Arial"/>
                <a:cs typeface="Arial"/>
              </a:defRPr>
            </a:pPr>
            <a:r>
              <a:rPr sz="1650" b="0">
                <a:solidFill>
                  <a:srgbClr val="FFFCED"/>
                </a:solidFill>
                <a:latin typeface="Arial"/>
                <a:ea typeface="Arial"/>
                <a:cs typeface="Arial"/>
              </a:rPr>
              <a:t>photos in one request.</a:t>
            </a:r>
          </a:p>
        </p:txBody>
      </p:sp>
      <p:sp>
        <p:nvSpPr>
          <p:cNvPr id="10" name="Demo scanning works offline. It does not verify disposal.">
            <a:extLst xmlns:a="http://schemas.openxmlformats.org/drawingml/2006/main">
              <a:ext uri="{FF2B5EF4-FFF2-40B4-BE49-F238E27FC236}">
                <a16:creationId xmlns:a16="http://schemas.microsoft.com/office/drawing/2014/main" id="{953CE722-DFAF-4499-B46D-C3124F10B854}"/>
              </a:ext>
            </a:extLst>
          </p:cNvPr>
          <p:cNvSpPr>
            <a:spLocks xmlns:a="http://schemas.openxmlformats.org/drawingml/2006/main" noGrp="1"/>
          </p:cNvSpPr>
          <p:nvPr/>
        </p:nvSpPr>
        <p:spPr>
          <a:xfrm xmlns:a="http://schemas.openxmlformats.org/drawingml/2006/main">
            <a:off x="457200" y="4352925"/>
            <a:ext cx="8229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ACD63"/>
                </a:solidFill>
                <a:latin typeface="Arial"/>
                <a:ea typeface="Arial"/>
                <a:cs typeface="Arial"/>
              </a:defRPr>
            </a:pPr>
            <a:r>
              <a:rPr sz="1650" b="1">
                <a:solidFill>
                  <a:srgbClr val="FACD63"/>
                </a:solidFill>
                <a:latin typeface="Arial"/>
                <a:ea typeface="Arial"/>
                <a:cs typeface="Arial"/>
              </a:rPr>
              <a:t>Demo scanning works offline. It does not verify disposal.</a:t>
            </a:r>
          </a:p>
        </p:txBody>
      </p:sp>
      <p:sp>
        <p:nvSpPr>
          <p:cNvPr id="11" name="AI can assess photos, but cannot prove that recycling happened.">
            <a:extLst xmlns:a="http://schemas.openxmlformats.org/drawingml/2006/main">
              <a:ext uri="{FF2B5EF4-FFF2-40B4-BE49-F238E27FC236}">
                <a16:creationId xmlns:a16="http://schemas.microsoft.com/office/drawing/2014/main" id="{DC827EAE-5F06-4CBB-94FB-D2A36A3A7075}"/>
              </a:ext>
            </a:extLst>
          </p:cNvPr>
          <p:cNvSpPr>
            <a:spLocks xmlns:a="http://schemas.openxmlformats.org/drawingml/2006/main" noGrp="1"/>
          </p:cNvSpPr>
          <p:nvPr/>
        </p:nvSpPr>
        <p:spPr>
          <a:xfrm xmlns:a="http://schemas.openxmlformats.org/drawingml/2006/main">
            <a:off x="457200" y="4733925"/>
            <a:ext cx="822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FDEA8"/>
                </a:solidFill>
                <a:latin typeface="Arial"/>
                <a:ea typeface="Arial"/>
                <a:cs typeface="Arial"/>
              </a:defRPr>
            </a:pPr>
            <a:r>
              <a:rPr sz="1350" b="0">
                <a:solidFill>
                  <a:srgbClr val="CFDEA8"/>
                </a:solidFill>
                <a:latin typeface="Arial"/>
                <a:ea typeface="Arial"/>
                <a:cs typeface="Arial"/>
              </a:rPr>
              <a:t>AI can assess photos, but cannot prove that recycling happened.</a:t>
            </a:r>
          </a:p>
        </p:txBody>
      </p:sp>
    </p:spTree>
    <p:extLst>
      <p:ext uri="{BB962C8B-B14F-4D97-AF65-F5344CB8AC3E}">
        <p14:creationId xmlns:p14="http://schemas.microsoft.com/office/powerpoint/2010/main" val="692490410"/>
      </p:ext>
    </p:extLst>
  </p:cSld>
</p:sld>
</file>

<file path=ppt/slides/slide7.xml><?xml version="1.0" encoding="utf-8"?>
<p:sld xmlns:p="http://schemas.openxmlformats.org/presentationml/2006/main">
  <p:cSld>
    <p:bg>
      <p:bgPr>
        <a:solidFill xmlns:a="http://schemas.openxmlformats.org/drawingml/2006/main">
          <a:srgbClr val="FFFCE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e28298de7e84bec"/>
          <a:srcRect xmlns:a="http://schemas.openxmlformats.org/drawingml/2006/main" l="0" t="5307" r="0" b="5307"/>
          <a:stretch xmlns:a="http://schemas.openxmlformats.org/drawingml/2006/main">
            <a:fillRect l="0" t="0" r="0" b="0"/>
          </a:stretch>
        </p:blipFill>
        <p:spPr>
          <a:xfrm xmlns:a="http://schemas.openxmlformats.org/drawingml/2006/main">
            <a:off x="5905500" y="0"/>
            <a:ext cx="3238500" cy="51435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dde1eb5716c43c1"/>
          <a:stretch xmlns:a="http://schemas.openxmlformats.org/drawingml/2006/main"/>
        </p:blipFill>
        <p:spPr>
          <a:xfrm xmlns:a="http://schemas.openxmlformats.org/drawingml/2006/main">
            <a:off x="6934200" y="3111035"/>
            <a:ext cx="1504950" cy="1388405"/>
          </a:xfrm>
          <a:prstGeom xmlns:a="http://schemas.openxmlformats.org/drawingml/2006/main" prst="rect">
            <a:avLst/>
          </a:prstGeom>
        </p:spPr>
      </p:pic>
      <p:sp>
        <p:nvSpPr>
          <p:cNvPr id="3" name="What comes next">
            <a:extLst xmlns:a="http://schemas.openxmlformats.org/drawingml/2006/main">
              <a:ext uri="{FF2B5EF4-FFF2-40B4-BE49-F238E27FC236}">
                <a16:creationId xmlns:a16="http://schemas.microsoft.com/office/drawing/2014/main" id="{EDE7CBD0-27A9-496B-8E0A-8EBFFADED578}"/>
              </a:ext>
            </a:extLst>
          </p:cNvPr>
          <p:cNvSpPr>
            <a:spLocks xmlns:a="http://schemas.openxmlformats.org/drawingml/2006/main" noGrp="1"/>
          </p:cNvSpPr>
          <p:nvPr/>
        </p:nvSpPr>
        <p:spPr>
          <a:xfrm xmlns:a="http://schemas.openxmlformats.org/drawingml/2006/main">
            <a:off x="457200" y="409575"/>
            <a:ext cx="5229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4033"/>
                </a:solidFill>
                <a:latin typeface="Courier New"/>
                <a:ea typeface="Courier New"/>
                <a:cs typeface="Courier New"/>
              </a:defRPr>
            </a:pPr>
            <a:r>
              <a:rPr sz="3000" b="1">
                <a:solidFill>
                  <a:srgbClr val="244033"/>
                </a:solidFill>
                <a:latin typeface="Courier New"/>
                <a:ea typeface="Courier New"/>
                <a:cs typeface="Courier New"/>
              </a:rPr>
              <a:t>What comes next</a:t>
            </a:r>
          </a:p>
        </p:txBody>
      </p:sp>
      <p:sp>
        <p:nvSpPr>
          <p:cNvPr id="4" name="Campus pilot">
            <a:extLst xmlns:a="http://schemas.openxmlformats.org/drawingml/2006/main">
              <a:ext uri="{FF2B5EF4-FFF2-40B4-BE49-F238E27FC236}">
                <a16:creationId xmlns:a16="http://schemas.microsoft.com/office/drawing/2014/main" id="{ED6AB4F5-B8AF-4E16-80CE-833AD24A0A55}"/>
              </a:ext>
            </a:extLst>
          </p:cNvPr>
          <p:cNvSpPr>
            <a:spLocks xmlns:a="http://schemas.openxmlformats.org/drawingml/2006/main" noGrp="1"/>
          </p:cNvSpPr>
          <p:nvPr/>
        </p:nvSpPr>
        <p:spPr>
          <a:xfrm xmlns:a="http://schemas.openxmlformats.org/drawingml/2006/main">
            <a:off x="457200" y="142875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Campus pilot</a:t>
            </a:r>
          </a:p>
        </p:txBody>
      </p:sp>
      <p:sp>
        <p:nvSpPr>
          <p:cNvPr id="5" name="Test repeat use and learn where&#10;recycling guidance is unclear.">
            <a:extLst xmlns:a="http://schemas.openxmlformats.org/drawingml/2006/main">
              <a:ext uri="{FF2B5EF4-FFF2-40B4-BE49-F238E27FC236}">
                <a16:creationId xmlns:a16="http://schemas.microsoft.com/office/drawing/2014/main" id="{66B06DF4-EAD3-40FB-865C-C2CE39B1A582}"/>
              </a:ext>
            </a:extLst>
          </p:cNvPr>
          <p:cNvSpPr>
            <a:spLocks xmlns:a="http://schemas.openxmlformats.org/drawingml/2006/main" noGrp="1"/>
          </p:cNvSpPr>
          <p:nvPr/>
        </p:nvSpPr>
        <p:spPr>
          <a:xfrm xmlns:a="http://schemas.openxmlformats.org/drawingml/2006/main">
            <a:off x="457200" y="183832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Test repeat use and learn where</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recycling guidance is unclear.</a:t>
            </a:r>
          </a:p>
        </p:txBody>
      </p:sp>
      <p:sp>
        <p:nvSpPr>
          <p:cNvPr id="6" name="Stronger verification">
            <a:extLst xmlns:a="http://schemas.openxmlformats.org/drawingml/2006/main">
              <a:ext uri="{FF2B5EF4-FFF2-40B4-BE49-F238E27FC236}">
                <a16:creationId xmlns:a16="http://schemas.microsoft.com/office/drawing/2014/main" id="{32BBEF9A-B1FB-4CBB-BD1F-65F0BAE20CB8}"/>
              </a:ext>
            </a:extLst>
          </p:cNvPr>
          <p:cNvSpPr>
            <a:spLocks xmlns:a="http://schemas.openxmlformats.org/drawingml/2006/main" noGrp="1"/>
          </p:cNvSpPr>
          <p:nvPr/>
        </p:nvSpPr>
        <p:spPr>
          <a:xfrm xmlns:a="http://schemas.openxmlformats.org/drawingml/2006/main">
            <a:off x="457200" y="2543175"/>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Stronger verification</a:t>
            </a:r>
          </a:p>
        </p:txBody>
      </p:sp>
      <p:sp>
        <p:nvSpPr>
          <p:cNvPr id="7" name="Improve local sorting rules and&#10;explore partnerships with smart b">
            <a:extLst xmlns:a="http://schemas.openxmlformats.org/drawingml/2006/main">
              <a:ext uri="{FF2B5EF4-FFF2-40B4-BE49-F238E27FC236}">
                <a16:creationId xmlns:a16="http://schemas.microsoft.com/office/drawing/2014/main" id="{CB62484E-DB78-492B-A001-A15066878A51}"/>
              </a:ext>
            </a:extLst>
          </p:cNvPr>
          <p:cNvSpPr>
            <a:spLocks xmlns:a="http://schemas.openxmlformats.org/drawingml/2006/main" noGrp="1"/>
          </p:cNvSpPr>
          <p:nvPr/>
        </p:nvSpPr>
        <p:spPr>
          <a:xfrm xmlns:a="http://schemas.openxmlformats.org/drawingml/2006/main">
            <a:off x="457200" y="2952750"/>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Improve local sorting rules and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explore partnerships with smart bins.</a:t>
            </a:r>
          </a:p>
        </p:txBody>
      </p:sp>
      <p:sp>
        <p:nvSpPr>
          <p:cNvPr id="8" name="Conservation support">
            <a:extLst xmlns:a="http://schemas.openxmlformats.org/drawingml/2006/main">
              <a:ext uri="{FF2B5EF4-FFF2-40B4-BE49-F238E27FC236}">
                <a16:creationId xmlns:a16="http://schemas.microsoft.com/office/drawing/2014/main" id="{DFF4C6C2-CCFD-447F-A213-45E02240BF09}"/>
              </a:ext>
            </a:extLst>
          </p:cNvPr>
          <p:cNvSpPr>
            <a:spLocks xmlns:a="http://schemas.openxmlformats.org/drawingml/2006/main" noGrp="1"/>
          </p:cNvSpPr>
          <p:nvPr/>
        </p:nvSpPr>
        <p:spPr>
          <a:xfrm xmlns:a="http://schemas.openxmlformats.org/drawingml/2006/main">
            <a:off x="457200" y="36576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4033"/>
                </a:solidFill>
                <a:latin typeface="Courier New"/>
                <a:ea typeface="Courier New"/>
                <a:cs typeface="Courier New"/>
              </a:defRPr>
            </a:pPr>
            <a:r>
              <a:rPr sz="1875" b="1">
                <a:solidFill>
                  <a:srgbClr val="244033"/>
                </a:solidFill>
                <a:latin typeface="Courier New"/>
                <a:ea typeface="Courier New"/>
                <a:cs typeface="Courier New"/>
              </a:rPr>
              <a:t>Conservation support</a:t>
            </a:r>
          </a:p>
        </p:txBody>
      </p:sp>
      <p:sp>
        <p:nvSpPr>
          <p:cNvPr id="9" name="Explore paid cosmetics that fund&#10;real habitat projects.">
            <a:extLst xmlns:a="http://schemas.openxmlformats.org/drawingml/2006/main">
              <a:ext uri="{FF2B5EF4-FFF2-40B4-BE49-F238E27FC236}">
                <a16:creationId xmlns:a16="http://schemas.microsoft.com/office/drawing/2014/main" id="{5BF39002-511E-4458-9F90-AA867E131760}"/>
              </a:ext>
            </a:extLst>
          </p:cNvPr>
          <p:cNvSpPr>
            <a:spLocks xmlns:a="http://schemas.openxmlformats.org/drawingml/2006/main" noGrp="1"/>
          </p:cNvSpPr>
          <p:nvPr/>
        </p:nvSpPr>
        <p:spPr>
          <a:xfrm xmlns:a="http://schemas.openxmlformats.org/drawingml/2006/main">
            <a:off x="457200" y="406717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Explore paid cosmetics that fund</a:t>
            </a:r>
          </a:p>
          <a:p xmlns:a="http://schemas.openxmlformats.org/drawingml/2006/main">
            <a:pPr algn="l">
              <a:defRPr sz="1650" b="0">
                <a:solidFill>
                  <a:srgbClr val="244033"/>
                </a:solidFill>
                <a:latin typeface="Arial"/>
                <a:ea typeface="Arial"/>
                <a:cs typeface="Arial"/>
              </a:defRPr>
            </a:pPr>
            <a:r>
              <a:rPr sz="1650" b="0">
                <a:solidFill>
                  <a:srgbClr val="244033"/>
                </a:solidFill>
                <a:latin typeface="Arial"/>
                <a:ea typeface="Arial"/>
                <a:cs typeface="Arial"/>
              </a:rPr>
              <a:t>real habitat projects.</a:t>
            </a:r>
          </a:p>
        </p:txBody>
      </p:sp>
      <p:sp>
        <p:nvSpPr>
          <p:cNvPr id="10" name="Future plans. Payments and donations are not live.">
            <a:extLst xmlns:a="http://schemas.openxmlformats.org/drawingml/2006/main">
              <a:ext uri="{FF2B5EF4-FFF2-40B4-BE49-F238E27FC236}">
                <a16:creationId xmlns:a16="http://schemas.microsoft.com/office/drawing/2014/main" id="{F0F6C30E-3814-4D9C-AF0C-E05C0078C541}"/>
              </a:ext>
            </a:extLst>
          </p:cNvPr>
          <p:cNvSpPr>
            <a:spLocks xmlns:a="http://schemas.openxmlformats.org/drawingml/2006/main" noGrp="1"/>
          </p:cNvSpPr>
          <p:nvPr/>
        </p:nvSpPr>
        <p:spPr>
          <a:xfrm xmlns:a="http://schemas.openxmlformats.org/drawingml/2006/main">
            <a:off x="457200" y="4838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7060"/>
                </a:solidFill>
                <a:latin typeface="Arial"/>
                <a:ea typeface="Arial"/>
                <a:cs typeface="Arial"/>
              </a:defRPr>
            </a:pPr>
            <a:r>
              <a:rPr sz="1275" b="0">
                <a:solidFill>
                  <a:srgbClr val="527060"/>
                </a:solidFill>
                <a:latin typeface="Arial"/>
                <a:ea typeface="Arial"/>
                <a:cs typeface="Arial"/>
              </a:rPr>
              <a:t>Future plans. Payments and donations are not live.</a:t>
            </a:r>
          </a:p>
        </p:txBody>
      </p:sp>
    </p:spTree>
    <p:extLst>
      <p:ext uri="{BB962C8B-B14F-4D97-AF65-F5344CB8AC3E}">
        <p14:creationId xmlns:p14="http://schemas.microsoft.com/office/powerpoint/2010/main" val="850011886"/>
      </p:ext>
    </p:extLst>
  </p:cSld>
</p:sld>
</file>

<file path=ppt/theme/theme1.xml><?xml version="1.0" encoding="utf-8"?>
<a:theme xmlns:a="http://schemas.openxmlformats.org/drawingml/2006/main" name="ChatGPT">
  <a:themeElements>
    <a:clrScheme name="EcoGotchi">
      <a:dk1>
        <a:srgbClr val="14271F"/>
      </a:dk1>
      <a:lt1>
        <a:srgbClr val="FFFCED"/>
      </a:lt1>
      <a:dk2>
        <a:srgbClr val="244033"/>
      </a:dk2>
      <a:lt2>
        <a:srgbClr val="F2F0D9"/>
      </a:lt2>
      <a:accent1>
        <a:srgbClr val="244033"/>
      </a:accent1>
      <a:accent2>
        <a:srgbClr val="CFDEA8"/>
      </a:accent2>
      <a:accent3>
        <a:srgbClr val="FACD63"/>
      </a:accent3>
      <a:accent4>
        <a:srgbClr val="DF7B57"/>
      </a:accent4>
      <a:accent5>
        <a:srgbClr val="9AD8C7"/>
      </a:accent5>
      <a:accent6>
        <a:srgbClr val="82B64A"/>
      </a:accent6>
      <a:hlink>
        <a:srgbClr val="28766D"/>
      </a:hlink>
      <a:folHlink>
        <a:srgbClr val="28766D"/>
      </a:folHlink>
    </a:clrScheme>
    <a:fontScheme name="Office">
      <a:majorFont>
        <a:latin typeface="Calibri Light"/>
        <a:ea typeface="Calibri Light"/>
        <a:cs typeface="Calibri Light"/>
      </a:majorFont>
      <a:minorFont>
        <a:latin typeface="Calibri"/>
        <a:ea typeface="Calibri"/>
        <a:cs typeface="Calibri"/>
      </a:minorFont>
    </a:fontScheme>
    <a:fmtScheme name="EcoGotch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2026-10-11T00:41:23.5760000Z</dcterms:created>
  <dcterms:modified xsi:type="dcterms:W3CDTF">2026-10-11T00:41:23.5760000Z</dcterms:modified>
</coreProperties>
</file>