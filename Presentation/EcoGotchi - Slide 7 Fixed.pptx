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Fraunces"/>
      <p:bold r:id="rId14"/>
      <p:boldItalic r:id="rId15"/>
    </p:embeddedFont>
    <p:embeddedFont>
      <p:font typeface="DM Sans Medium"/>
      <p:regular r:id="rId16"/>
      <p:bold r:id="rId17"/>
      <p:italic r:id="rId18"/>
      <p:boldItalic r:id="rId19"/>
    </p:embeddedFont>
    <p:embeddedFont>
      <p:font typeface="DM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DM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Fraunces-boldItalic.fntdata"/><Relationship Id="rId14" Type="http://schemas.openxmlformats.org/officeDocument/2006/relationships/font" Target="fonts/Fraunces-bold.fntdata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22a2f5b733bdbf1_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22a2f5b733bdbf1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522a2f5b733bdbf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522a2f5b733bdbf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522a2f5b733bdbf1_2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522a2f5b733bdbf1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522a2f5b733bdbf1_1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522a2f5b733bdbf1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h21242af88c3a0128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h21242af88c3a0128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522a2f5b733bdbf1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522a2f5b733bdbf1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522a2f5b733bdbf1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522a2f5b733bdbf1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522a2f5b733bdbf1_1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h522a2f5b733bdbf1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522a2f5b733bdbf1_14_0)">
  <p:cSld name="Generated (h522a2f5b733bdbf1_14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571500" y="857250"/>
            <a:ext cx="42864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</a:t>
            </a:r>
            <a:endParaRPr b="1" sz="6400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2200">
                <a:solidFill>
                  <a:srgbClr val="4A7C5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Gamifying Sustainability for a Greener Future</a:t>
            </a:r>
            <a:endParaRPr b="0" sz="2200">
              <a:solidFill>
                <a:srgbClr val="4A7C59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PROJECT TEAM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C3525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Farden Khan • Jintian Wu</a:t>
            </a:r>
            <a:endParaRPr b="1" sz="1500">
              <a:solidFill>
                <a:srgbClr val="2C3525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C3525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Colin Bond-Burt • Christopher Wiratman</a:t>
            </a:r>
            <a:endParaRPr b="1" sz="1500">
              <a:solidFill>
                <a:srgbClr val="2C3525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6" name="Google Shape;56;p14"/>
          <p:cNvGrpSpPr/>
          <p:nvPr/>
        </p:nvGrpSpPr>
        <p:grpSpPr>
          <a:xfrm>
            <a:off x="-1421494" y="-2404586"/>
            <a:ext cx="11766304" cy="8859679"/>
            <a:chOff x="-1421494" y="-2404586"/>
            <a:chExt cx="11766304" cy="8859679"/>
          </a:xfrm>
        </p:grpSpPr>
        <p:sp>
          <p:nvSpPr>
            <p:cNvPr id="57" name="Google Shape;57;p14"/>
            <p:cNvSpPr/>
            <p:nvPr/>
          </p:nvSpPr>
          <p:spPr>
            <a:xfrm>
              <a:off x="4499610" y="-2404586"/>
              <a:ext cx="5845200" cy="49419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" name="Google Shape;58;p14"/>
            <p:cNvGrpSpPr/>
            <p:nvPr/>
          </p:nvGrpSpPr>
          <p:grpSpPr>
            <a:xfrm>
              <a:off x="4572000" y="4429125"/>
              <a:ext cx="285900" cy="381000"/>
              <a:chOff x="0" y="0"/>
              <a:chExt cx="285900" cy="381000"/>
            </a:xfrm>
          </p:grpSpPr>
          <p:sp>
            <p:nvSpPr>
              <p:cNvPr id="59" name="Google Shape;59;p14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/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4"/>
              <p:cNvSpPr/>
              <p:nvPr/>
            </p:nvSpPr>
            <p:spPr>
              <a:xfrm>
                <a:off x="95250" y="111125"/>
                <a:ext cx="190500" cy="1110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47625" y="254000"/>
                <a:ext cx="142800" cy="1110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571500" y="428625"/>
              <a:ext cx="314490" cy="314490"/>
              <a:chOff x="0" y="0"/>
              <a:chExt cx="285900" cy="2859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6" name="Google Shape;66;p14"/>
            <p:cNvSpPr/>
            <p:nvPr/>
          </p:nvSpPr>
          <p:spPr>
            <a:xfrm rot="10800000">
              <a:off x="-1421494" y="3863693"/>
              <a:ext cx="2728800" cy="2591400"/>
            </a:xfrm>
            <a:custGeom>
              <a:rect b="b" l="l" r="r" t="t"/>
              <a:pathLst>
                <a:path extrusionOk="0" h="120000" w="120000">
                  <a:moveTo>
                    <a:pt x="98576" y="13032"/>
                  </a:moveTo>
                  <a:cubicBezTo>
                    <a:pt x="109759" y="23484"/>
                    <a:pt x="117236" y="38765"/>
                    <a:pt x="118618" y="54377"/>
                  </a:cubicBezTo>
                  <a:cubicBezTo>
                    <a:pt x="120000" y="69989"/>
                    <a:pt x="115351" y="85932"/>
                    <a:pt x="105550" y="98037"/>
                  </a:cubicBezTo>
                  <a:cubicBezTo>
                    <a:pt x="95749" y="110143"/>
                    <a:pt x="80796" y="118412"/>
                    <a:pt x="65152" y="119206"/>
                  </a:cubicBezTo>
                  <a:cubicBezTo>
                    <a:pt x="49508" y="120000"/>
                    <a:pt x="33173" y="113319"/>
                    <a:pt x="20796" y="101610"/>
                  </a:cubicBezTo>
                  <a:cubicBezTo>
                    <a:pt x="8419" y="89901"/>
                    <a:pt x="0" y="73164"/>
                    <a:pt x="691" y="57222"/>
                  </a:cubicBezTo>
                  <a:cubicBezTo>
                    <a:pt x="1382" y="41279"/>
                    <a:pt x="11183" y="26130"/>
                    <a:pt x="23937" y="15810"/>
                  </a:cubicBezTo>
                  <a:cubicBezTo>
                    <a:pt x="36691" y="5491"/>
                    <a:pt x="52398" y="0"/>
                    <a:pt x="65466" y="2051"/>
                  </a:cubicBezTo>
                  <a:cubicBezTo>
                    <a:pt x="78534" y="4101"/>
                    <a:pt x="91225" y="13693"/>
                    <a:pt x="98576" y="13032"/>
                  </a:cubicBezTo>
                  <a:close/>
                </a:path>
              </a:pathLst>
            </a:custGeom>
            <a:solidFill>
              <a:srgbClr val="C06E5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10773" l="0" r="0" t="10765"/>
          <a:stretch/>
        </p:blipFill>
        <p:spPr>
          <a:xfrm>
            <a:off x="5143500" y="476250"/>
            <a:ext cx="34290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476250" y="476250"/>
            <a:ext cx="4000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HACKATHON SUBMISSION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CodeRED: Orion</a:t>
            </a:r>
            <a:endParaRPr b="1" sz="100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476250" y="1714500"/>
            <a:ext cx="4000500" cy="2667000"/>
            <a:chOff x="0" y="0"/>
            <a:chExt cx="4000500" cy="26670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4000500" cy="2667000"/>
            </a:xfrm>
            <a:prstGeom prst="roundRect">
              <a:avLst>
                <a:gd fmla="val 5714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0" y="0"/>
              <a:ext cx="4000500" cy="573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266700" y="266700"/>
              <a:ext cx="3467100" cy="213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TARGET TRACK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2C3525"/>
                  </a:solidFill>
                  <a:latin typeface="Fraunces"/>
                  <a:ea typeface="Fraunces"/>
                  <a:cs typeface="Fraunces"/>
                  <a:sym typeface="Fraunces"/>
                </a:rPr>
                <a:t>Best Environment Hack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Dedicated to projects that directly champion environmental sustainability, resource conservation, and eco-friendly technology.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-952500" y="-762000"/>
            <a:ext cx="10858500" cy="6401400"/>
            <a:chOff x="-952500" y="-762000"/>
            <a:chExt cx="10858500" cy="6401400"/>
          </a:xfrm>
        </p:grpSpPr>
        <p:sp>
          <p:nvSpPr>
            <p:cNvPr id="78" name="Google Shape;78;p15"/>
            <p:cNvSpPr/>
            <p:nvPr/>
          </p:nvSpPr>
          <p:spPr>
            <a:xfrm>
              <a:off x="6477000" y="-762000"/>
              <a:ext cx="3429000" cy="2899500"/>
            </a:xfrm>
            <a:custGeom>
              <a:rect b="b" l="l" r="r" t="t"/>
              <a:pathLst>
                <a:path extrusionOk="0" h="120000" w="120000">
                  <a:moveTo>
                    <a:pt x="99408" y="12802"/>
                  </a:moveTo>
                  <a:cubicBezTo>
                    <a:pt x="109118" y="18908"/>
                    <a:pt x="115717" y="32195"/>
                    <a:pt x="117859" y="46767"/>
                  </a:cubicBezTo>
                  <a:cubicBezTo>
                    <a:pt x="120000" y="61338"/>
                    <a:pt x="117683" y="74278"/>
                    <a:pt x="110848" y="85693"/>
                  </a:cubicBezTo>
                  <a:cubicBezTo>
                    <a:pt x="104014" y="97102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6"/>
                    <a:pt x="8008" y="93980"/>
                  </a:cubicBezTo>
                  <a:cubicBezTo>
                    <a:pt x="968" y="80558"/>
                    <a:pt x="0" y="60679"/>
                    <a:pt x="4605" y="43644"/>
                  </a:cubicBezTo>
                  <a:cubicBezTo>
                    <a:pt x="9210" y="26610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lose/>
                </a:path>
              </a:pathLst>
            </a:custGeom>
            <a:solidFill>
              <a:srgbClr val="A8C29A">
                <a:alpha val="3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952500" y="3048000"/>
              <a:ext cx="2728800" cy="2591400"/>
            </a:xfrm>
            <a:custGeom>
              <a:rect b="b" l="l" r="r" t="t"/>
              <a:pathLst>
                <a:path extrusionOk="0" h="120000" w="120000">
                  <a:moveTo>
                    <a:pt x="98575" y="13034"/>
                  </a:moveTo>
                  <a:cubicBezTo>
                    <a:pt x="109759" y="23483"/>
                    <a:pt x="117236" y="38766"/>
                    <a:pt x="118618" y="54376"/>
                  </a:cubicBezTo>
                  <a:cubicBezTo>
                    <a:pt x="120000" y="69990"/>
                    <a:pt x="115351" y="85935"/>
                    <a:pt x="105549" y="98039"/>
                  </a:cubicBezTo>
                  <a:cubicBezTo>
                    <a:pt x="95748" y="110146"/>
                    <a:pt x="80794" y="118412"/>
                    <a:pt x="65154" y="119206"/>
                  </a:cubicBezTo>
                  <a:cubicBezTo>
                    <a:pt x="49510" y="120000"/>
                    <a:pt x="33174" y="113322"/>
                    <a:pt x="20797" y="101611"/>
                  </a:cubicBezTo>
                  <a:cubicBezTo>
                    <a:pt x="8419" y="89901"/>
                    <a:pt x="0" y="73166"/>
                    <a:pt x="691" y="57221"/>
                  </a:cubicBezTo>
                  <a:cubicBezTo>
                    <a:pt x="1382" y="41281"/>
                    <a:pt x="11184" y="26130"/>
                    <a:pt x="23938" y="15808"/>
                  </a:cubicBezTo>
                  <a:cubicBezTo>
                    <a:pt x="36692" y="5491"/>
                    <a:pt x="52396" y="0"/>
                    <a:pt x="65464" y="2051"/>
                  </a:cubicBezTo>
                  <a:close/>
                </a:path>
              </a:pathLst>
            </a:custGeom>
            <a:solidFill>
              <a:srgbClr val="C06E52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" name="Google Shape;80;p15"/>
            <p:cNvGrpSpPr/>
            <p:nvPr/>
          </p:nvGrpSpPr>
          <p:grpSpPr>
            <a:xfrm>
              <a:off x="8477250" y="333375"/>
              <a:ext cx="285900" cy="285900"/>
              <a:chOff x="0" y="0"/>
              <a:chExt cx="285900" cy="285900"/>
            </a:xfrm>
          </p:grpSpPr>
          <p:sp>
            <p:nvSpPr>
              <p:cNvPr id="81" name="Google Shape;81;p15"/>
              <p:cNvSpPr/>
              <p:nvPr/>
            </p:nvSpPr>
            <p:spPr>
              <a:xfrm>
                <a:off x="0" y="0"/>
                <a:ext cx="285900" cy="285900"/>
              </a:xfrm>
              <a:prstGeom prst="ellipse">
                <a:avLst/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95250" y="95250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cubicBezTo>
                      <a:pt x="80040" y="39960"/>
                      <a:pt x="120000" y="0"/>
                      <a:pt x="120000" y="0"/>
                    </a:cubicBezTo>
                    <a:cubicBezTo>
                      <a:pt x="80040" y="80040"/>
                      <a:pt x="40080" y="120000"/>
                      <a:pt x="0" y="120000"/>
                    </a:cubicBezTo>
                    <a:close/>
                  </a:path>
                </a:pathLst>
              </a:custGeom>
              <a:solidFill>
                <a:srgbClr val="F4F1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4694" l="0" r="0" t="4694"/>
          <a:stretch/>
        </p:blipFill>
        <p:spPr>
          <a:xfrm>
            <a:off x="4762500" y="476250"/>
            <a:ext cx="39054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6"/>
          <p:cNvGrpSpPr/>
          <p:nvPr/>
        </p:nvGrpSpPr>
        <p:grpSpPr>
          <a:xfrm>
            <a:off x="0" y="0"/>
            <a:ext cx="10497354" cy="6807708"/>
            <a:chOff x="0" y="0"/>
            <a:chExt cx="10497354" cy="6807708"/>
          </a:xfrm>
        </p:grpSpPr>
        <p:sp>
          <p:nvSpPr>
            <p:cNvPr id="89" name="Google Shape;89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" name="Google Shape;90;p16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91" name="Google Shape;91;p16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6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6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" name="Google Shape;94;p16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" name="Google Shape;95;p16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96" name="Google Shape;96;p16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6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6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9" name="Google Shape;99;p16"/>
          <p:cNvSpPr txBox="1"/>
          <p:nvPr/>
        </p:nvSpPr>
        <p:spPr>
          <a:xfrm>
            <a:off x="381000" y="304800"/>
            <a:ext cx="78105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86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ENVIRONMENTAL SUSTAINABILITY &amp; SMART CITIES</a:t>
            </a:r>
            <a:endParaRPr b="1" i="0" sz="786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203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The Challenges We Combat</a:t>
            </a:r>
            <a:endParaRPr b="1" i="0" sz="786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00" name="Google Shape;100;p16"/>
          <p:cNvGrpSpPr/>
          <p:nvPr/>
        </p:nvGrpSpPr>
        <p:grpSpPr>
          <a:xfrm>
            <a:off x="381000" y="1381125"/>
            <a:ext cx="8382000" cy="876300"/>
            <a:chOff x="0" y="0"/>
            <a:chExt cx="8382000" cy="876300"/>
          </a:xfrm>
        </p:grpSpPr>
        <p:sp>
          <p:nvSpPr>
            <p:cNvPr id="101" name="Google Shape;101;p16"/>
            <p:cNvSpPr/>
            <p:nvPr/>
          </p:nvSpPr>
          <p:spPr>
            <a:xfrm>
              <a:off x="0" y="0"/>
              <a:ext cx="8382000" cy="876300"/>
            </a:xfrm>
            <a:prstGeom prst="roundRect">
              <a:avLst>
                <a:gd fmla="val 10869" name="adj"/>
              </a:avLst>
            </a:prstGeom>
            <a:solidFill>
              <a:srgbClr val="A8C29A">
                <a:alpha val="2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 txBox="1"/>
            <p:nvPr/>
          </p:nvSpPr>
          <p:spPr>
            <a:xfrm>
              <a:off x="228600" y="114300"/>
              <a:ext cx="79248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88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Core Challenge</a:t>
              </a:r>
              <a:endParaRPr b="1" i="0" sz="1388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249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Municipalities struggle to enforce proper recycling habits at the consumer level, leading to highly contaminated waste streams and inefficient processing.</a:t>
              </a:r>
              <a:endParaRPr b="1" i="0" sz="1249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586363" y="2476425"/>
            <a:ext cx="7971282" cy="1193711"/>
            <a:chOff x="0" y="0"/>
            <a:chExt cx="8382000" cy="1447800"/>
          </a:xfrm>
        </p:grpSpPr>
        <p:grpSp>
          <p:nvGrpSpPr>
            <p:cNvPr id="105" name="Google Shape;105;p16"/>
            <p:cNvGrpSpPr/>
            <p:nvPr/>
          </p:nvGrpSpPr>
          <p:grpSpPr>
            <a:xfrm>
              <a:off x="0" y="0"/>
              <a:ext cx="2667000" cy="1447800"/>
              <a:chOff x="0" y="0"/>
              <a:chExt cx="2667000" cy="14478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3515">
                    <a:solidFill>
                      <a:srgbClr val="4A7C59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9%</a:t>
                </a:r>
                <a:endParaRPr b="1" i="0" sz="3515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1064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Of all plastic waste ever produced has been recycled.</a:t>
                </a:r>
                <a:endParaRPr b="1" i="0" sz="1064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  <p:grpSp>
          <p:nvGrpSpPr>
            <p:cNvPr id="108" name="Google Shape;108;p16"/>
            <p:cNvGrpSpPr/>
            <p:nvPr/>
          </p:nvGrpSpPr>
          <p:grpSpPr>
            <a:xfrm>
              <a:off x="2857500" y="0"/>
              <a:ext cx="2667000" cy="1447800"/>
              <a:chOff x="0" y="0"/>
              <a:chExt cx="2667000" cy="144780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3230">
                    <a:solidFill>
                      <a:srgbClr val="C06E52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79%</a:t>
                </a:r>
                <a:endParaRPr b="1" i="0" sz="3230">
                  <a:solidFill>
                    <a:srgbClr val="C06E52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978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Of plastic waste accumulates in landfills or the natural environment.</a:t>
                </a:r>
                <a:endParaRPr b="1" i="0" sz="978">
                  <a:solidFill>
                    <a:srgbClr val="C06E52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  <p:grpSp>
          <p:nvGrpSpPr>
            <p:cNvPr id="111" name="Google Shape;111;p16"/>
            <p:cNvGrpSpPr/>
            <p:nvPr/>
          </p:nvGrpSpPr>
          <p:grpSpPr>
            <a:xfrm>
              <a:off x="5715000" y="0"/>
              <a:ext cx="2667000" cy="1447800"/>
              <a:chOff x="0" y="0"/>
              <a:chExt cx="2667000" cy="1447800"/>
            </a:xfrm>
          </p:grpSpPr>
          <p:sp>
            <p:nvSpPr>
              <p:cNvPr id="112" name="Google Shape;112;p16"/>
              <p:cNvSpPr/>
              <p:nvPr/>
            </p:nvSpPr>
            <p:spPr>
              <a:xfrm>
                <a:off x="0" y="0"/>
                <a:ext cx="2667000" cy="1447800"/>
              </a:xfrm>
              <a:prstGeom prst="roundRect">
                <a:avLst>
                  <a:gd fmla="val 7894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 txBox="1"/>
              <p:nvPr/>
            </p:nvSpPr>
            <p:spPr>
              <a:xfrm>
                <a:off x="190500" y="152400"/>
                <a:ext cx="2286000" cy="1143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550">
                    <a:solidFill>
                      <a:srgbClr val="4A7C59"/>
                    </a:solidFill>
                    <a:latin typeface="Fraunces"/>
                    <a:ea typeface="Fraunces"/>
                    <a:cs typeface="Fraunces"/>
                    <a:sym typeface="Fraunces"/>
                  </a:rPr>
                  <a:t>$ Millions</a:t>
                </a:r>
                <a:endParaRPr b="1" i="0" sz="2550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  <a:p>
                <a:pPr indent="0" lvl="0" marL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" sz="978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Lost annually by municipalities due to single-stream bin cross-contamination.</a:t>
                </a:r>
                <a:endParaRPr b="1" i="0" sz="978">
                  <a:solidFill>
                    <a:srgbClr val="4A7C59"/>
                  </a:solidFill>
                  <a:latin typeface="Fraunces"/>
                  <a:ea typeface="Fraunces"/>
                  <a:cs typeface="Fraunces"/>
                  <a:sym typeface="Fraunces"/>
                </a:endParaRPr>
              </a:p>
            </p:txBody>
          </p:sp>
        </p:grpSp>
      </p:grpSp>
      <p:grpSp>
        <p:nvGrpSpPr>
          <p:cNvPr id="114" name="Google Shape;114;p16"/>
          <p:cNvGrpSpPr/>
          <p:nvPr/>
        </p:nvGrpSpPr>
        <p:grpSpPr>
          <a:xfrm>
            <a:off x="381000" y="3771900"/>
            <a:ext cx="8382000" cy="876300"/>
            <a:chOff x="0" y="0"/>
            <a:chExt cx="8382000" cy="876300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8382000" cy="876300"/>
            </a:xfrm>
            <a:prstGeom prst="roundRect">
              <a:avLst>
                <a:gd fmla="val 10869" name="adj"/>
              </a:avLst>
            </a:prstGeom>
            <a:solidFill>
              <a:srgbClr val="A8C29A">
                <a:alpha val="22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0" y="0"/>
              <a:ext cx="57300" cy="876300"/>
            </a:xfrm>
            <a:prstGeom prst="roundRect">
              <a:avLst>
                <a:gd fmla="val 50000" name="adj"/>
              </a:avLst>
            </a:prstGeom>
            <a:solidFill>
              <a:srgbClr val="4A7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228600" y="114300"/>
              <a:ext cx="79248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388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Our Objective</a:t>
              </a:r>
              <a:endParaRPr b="1" i="0" sz="1388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0" lang="en" sz="1249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Develop an interactive, accessible mobile application that leverages behavioral psychology and gamification to educate users and incentivize accurate, daily recycling habits.</a:t>
              </a:r>
              <a:endParaRPr b="1" i="0" sz="1249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17"/>
          <p:cNvGrpSpPr/>
          <p:nvPr/>
        </p:nvGrpSpPr>
        <p:grpSpPr>
          <a:xfrm>
            <a:off x="190500" y="285750"/>
            <a:ext cx="10306854" cy="6521958"/>
            <a:chOff x="190500" y="285750"/>
            <a:chExt cx="10306854" cy="6521958"/>
          </a:xfrm>
        </p:grpSpPr>
        <p:grpSp>
          <p:nvGrpSpPr>
            <p:cNvPr id="123" name="Google Shape;123;p17"/>
            <p:cNvGrpSpPr/>
            <p:nvPr/>
          </p:nvGrpSpPr>
          <p:grpSpPr>
            <a:xfrm>
              <a:off x="8477250" y="285750"/>
              <a:ext cx="285900" cy="285900"/>
              <a:chOff x="0" y="0"/>
              <a:chExt cx="285900" cy="2859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7" name="Google Shape;127;p17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" name="Google Shape;128;p17"/>
            <p:cNvGrpSpPr/>
            <p:nvPr/>
          </p:nvGrpSpPr>
          <p:grpSpPr>
            <a:xfrm>
              <a:off x="190500" y="4572000"/>
              <a:ext cx="171540" cy="228600"/>
              <a:chOff x="0" y="0"/>
              <a:chExt cx="285900" cy="381000"/>
            </a:xfrm>
          </p:grpSpPr>
          <p:sp>
            <p:nvSpPr>
              <p:cNvPr id="129" name="Google Shape;129;p17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" name="Google Shape;132;p17"/>
          <p:cNvSpPr txBox="1"/>
          <p:nvPr/>
        </p:nvSpPr>
        <p:spPr>
          <a:xfrm>
            <a:off x="381000" y="285750"/>
            <a:ext cx="78105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3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HOW RECYCLI WORKS</a:t>
            </a:r>
            <a:endParaRPr b="1" sz="93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 Rewards Real-World Action</a:t>
            </a:r>
            <a:endParaRPr b="1" sz="201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" sz="201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with Digital Progression</a:t>
            </a:r>
            <a:endParaRPr b="1" sz="201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133" name="Google Shape;133;p17"/>
          <p:cNvGrpSpPr/>
          <p:nvPr/>
        </p:nvGrpSpPr>
        <p:grpSpPr>
          <a:xfrm>
            <a:off x="400050" y="1621525"/>
            <a:ext cx="4343550" cy="2333550"/>
            <a:chOff x="19050" y="0"/>
            <a:chExt cx="4343550" cy="2333550"/>
          </a:xfrm>
        </p:grpSpPr>
        <p:grpSp>
          <p:nvGrpSpPr>
            <p:cNvPr id="134" name="Google Shape;134;p17"/>
            <p:cNvGrpSpPr/>
            <p:nvPr/>
          </p:nvGrpSpPr>
          <p:grpSpPr>
            <a:xfrm>
              <a:off x="19050" y="0"/>
              <a:ext cx="4343550" cy="714300"/>
              <a:chOff x="19050" y="0"/>
              <a:chExt cx="4343550" cy="714300"/>
            </a:xfrm>
          </p:grpSpPr>
          <p:sp>
            <p:nvSpPr>
              <p:cNvPr id="135" name="Google Shape;135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275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1. Scan &amp; Learn</a:t>
                </a:r>
                <a:endParaRPr b="1" i="0" sz="1275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978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Users scan their waste items using their smartphone camera. The app identifies the material and provides local disposal instructions.</a:t>
                </a:r>
                <a:endParaRPr b="1" i="0" sz="978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38" name="Google Shape;138;p17"/>
            <p:cNvGrpSpPr/>
            <p:nvPr/>
          </p:nvGrpSpPr>
          <p:grpSpPr>
            <a:xfrm>
              <a:off x="19050" y="809625"/>
              <a:ext cx="4343550" cy="714300"/>
              <a:chOff x="19050" y="0"/>
              <a:chExt cx="4343550" cy="714300"/>
            </a:xfrm>
          </p:grpSpPr>
          <p:sp>
            <p:nvSpPr>
              <p:cNvPr id="139" name="Google Shape;139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2. Earn Points</a:t>
                </a:r>
                <a:endParaRPr b="1" i="0" sz="15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1150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Correctly logging and disposing of items rewards users with 'Leaves'.</a:t>
                </a:r>
                <a:endParaRPr b="1" i="0" sz="115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142" name="Google Shape;142;p17"/>
            <p:cNvGrpSpPr/>
            <p:nvPr/>
          </p:nvGrpSpPr>
          <p:grpSpPr>
            <a:xfrm>
              <a:off x="19050" y="1619250"/>
              <a:ext cx="4343550" cy="714300"/>
              <a:chOff x="19050" y="0"/>
              <a:chExt cx="4343550" cy="714300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19050" y="19050"/>
                <a:ext cx="304800" cy="304800"/>
              </a:xfrm>
              <a:prstGeom prst="ellipse">
                <a:avLst/>
              </a:prstGeom>
              <a:solidFill>
                <a:srgbClr val="E8E3D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123825" y="123825"/>
                <a:ext cx="95400" cy="954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20000" y="0"/>
                      <a:pt x="120000" y="0"/>
                    </a:quadBezTo>
                    <a:quadBezTo>
                      <a:pt x="60000" y="120000"/>
                      <a:pt x="0" y="120000"/>
                    </a:quad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7"/>
              <p:cNvSpPr txBox="1"/>
              <p:nvPr/>
            </p:nvSpPr>
            <p:spPr>
              <a:xfrm>
                <a:off x="457200" y="0"/>
                <a:ext cx="39054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3. Gamified Environment</a:t>
                </a:r>
                <a:endParaRPr b="1" i="0" sz="15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225"/>
                  </a:spcBef>
                  <a:spcAft>
                    <a:spcPts val="225"/>
                  </a:spcAft>
                  <a:buNone/>
                </a:pPr>
                <a:r>
                  <a:rPr b="0" i="0" lang="en" sz="1150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Users build and upgrade a digital 'Virtual Garden' that flourishes as they recycle more in the real world.</a:t>
                </a:r>
                <a:endParaRPr b="1" i="0" sz="115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146" name="Google Shape;146;p17"/>
          <p:cNvGrpSpPr/>
          <p:nvPr/>
        </p:nvGrpSpPr>
        <p:grpSpPr>
          <a:xfrm>
            <a:off x="6223850" y="1285875"/>
            <a:ext cx="1257300" cy="3238500"/>
            <a:chOff x="0" y="0"/>
            <a:chExt cx="1257300" cy="32385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ITEM</a:t>
              </a:r>
              <a:endParaRPr b="1" sz="10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Material identification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7633525" y="1285875"/>
            <a:ext cx="1257300" cy="3238500"/>
            <a:chOff x="0" y="0"/>
            <a:chExt cx="1257300" cy="32385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DISPOSAL</a:t>
              </a:r>
              <a:endParaRPr b="1" sz="1000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Verified action log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855075" y="1285875"/>
            <a:ext cx="1257300" cy="3238500"/>
            <a:chOff x="0" y="0"/>
            <a:chExt cx="1257300" cy="32385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1257300" cy="3238500"/>
            </a:xfrm>
            <a:prstGeom prst="roundRect">
              <a:avLst>
                <a:gd fmla="val 9090" name="adj"/>
              </a:avLst>
            </a:prstGeom>
            <a:solidFill>
              <a:srgbClr val="FFFFFF">
                <a:alpha val="9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95250" y="2343150"/>
              <a:ext cx="1066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rPr>
                <a:t>BIN</a:t>
              </a:r>
              <a:endParaRPr b="1" sz="100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5B6B50"/>
                  </a:solidFill>
                  <a:latin typeface="DM Sans"/>
                  <a:ea typeface="DM Sans"/>
                  <a:cs typeface="DM Sans"/>
                  <a:sym typeface="DM Sans"/>
                </a:rPr>
                <a:t>Smart location &amp; setup</a:t>
              </a:r>
              <a:endParaRPr b="0" sz="90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55" name="Google Shape;15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075" y="1379125"/>
            <a:ext cx="4035750" cy="17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050"/>
            <a:ext cx="9144000" cy="50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/>
            <p:nvPr/>
          </p:nvSpPr>
          <p:spPr>
            <a:xfrm>
              <a:off x="0" y="0"/>
              <a:ext cx="3810000" cy="5143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08000" y="0"/>
                  </a:lnTo>
                  <a:cubicBezTo>
                    <a:pt x="114627" y="0"/>
                    <a:pt x="120000" y="3980"/>
                    <a:pt x="120000" y="8889"/>
                  </a:cubicBezTo>
                  <a:lnTo>
                    <a:pt x="120000" y="111111"/>
                  </a:lnTo>
                  <a:cubicBezTo>
                    <a:pt x="120000" y="116020"/>
                    <a:pt x="114627" y="120000"/>
                    <a:pt x="108000" y="120000"/>
                  </a:cubicBezTo>
                  <a:lnTo>
                    <a:pt x="0" y="120000"/>
                  </a:lnTo>
                  <a:close/>
                </a:path>
              </a:pathLst>
            </a:custGeom>
            <a:solidFill>
              <a:srgbClr val="A8C29A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19"/>
            <p:cNvGrpSpPr/>
            <p:nvPr/>
          </p:nvGrpSpPr>
          <p:grpSpPr>
            <a:xfrm>
              <a:off x="381000" y="381000"/>
              <a:ext cx="285900" cy="285900"/>
              <a:chOff x="0" y="0"/>
              <a:chExt cx="285900" cy="285900"/>
            </a:xfrm>
          </p:grpSpPr>
          <p:sp>
            <p:nvSpPr>
              <p:cNvPr id="169" name="Google Shape;169;p19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9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9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" name="Google Shape;172;p19"/>
            <p:cNvSpPr/>
            <p:nvPr/>
          </p:nvSpPr>
          <p:spPr>
            <a:xfrm>
              <a:off x="7224713" y="78105"/>
              <a:ext cx="1819200" cy="1727700"/>
            </a:xfrm>
            <a:custGeom>
              <a:rect b="b" l="l" r="r" t="t"/>
              <a:pathLst>
                <a:path extrusionOk="0" h="120000" w="120000">
                  <a:moveTo>
                    <a:pt x="98576" y="13032"/>
                  </a:moveTo>
                  <a:cubicBezTo>
                    <a:pt x="109759" y="23484"/>
                    <a:pt x="117236" y="38765"/>
                    <a:pt x="118618" y="54377"/>
                  </a:cubicBezTo>
                  <a:cubicBezTo>
                    <a:pt x="120000" y="69989"/>
                    <a:pt x="115351" y="85932"/>
                    <a:pt x="105550" y="98037"/>
                  </a:cubicBezTo>
                  <a:cubicBezTo>
                    <a:pt x="95749" y="110143"/>
                    <a:pt x="80796" y="118412"/>
                    <a:pt x="65152" y="119206"/>
                  </a:cubicBezTo>
                  <a:cubicBezTo>
                    <a:pt x="49508" y="120000"/>
                    <a:pt x="33173" y="113319"/>
                    <a:pt x="20796" y="101610"/>
                  </a:cubicBezTo>
                  <a:cubicBezTo>
                    <a:pt x="8419" y="89901"/>
                    <a:pt x="0" y="73164"/>
                    <a:pt x="691" y="57222"/>
                  </a:cubicBezTo>
                  <a:cubicBezTo>
                    <a:pt x="1382" y="41279"/>
                    <a:pt x="11183" y="26130"/>
                    <a:pt x="23937" y="15810"/>
                  </a:cubicBezTo>
                  <a:cubicBezTo>
                    <a:pt x="36691" y="5491"/>
                    <a:pt x="52398" y="0"/>
                    <a:pt x="65466" y="2051"/>
                  </a:cubicBezTo>
                  <a:cubicBezTo>
                    <a:pt x="78534" y="4101"/>
                    <a:pt x="91225" y="13693"/>
                    <a:pt x="98576" y="13032"/>
                  </a:cubicBezTo>
                  <a:close/>
                </a:path>
              </a:pathLst>
            </a:custGeom>
            <a:solidFill>
              <a:srgbClr val="C06E52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9"/>
          <p:cNvSpPr txBox="1"/>
          <p:nvPr/>
        </p:nvSpPr>
        <p:spPr>
          <a:xfrm>
            <a:off x="381000" y="809625"/>
            <a:ext cx="32385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DEMO WALKTHROUGH</a:t>
            </a:r>
            <a:endParaRPr b="1" sz="111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Recycli in Action</a:t>
            </a:r>
            <a:endParaRPr b="1" sz="2405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10">
                <a:solidFill>
                  <a:srgbClr val="5B6B50"/>
                </a:solidFill>
                <a:latin typeface="DM Sans"/>
                <a:ea typeface="DM Sans"/>
                <a:cs typeface="DM Sans"/>
                <a:sym typeface="DM Sans"/>
              </a:rPr>
              <a:t>Instead of just telling, lets go ahead and show!</a:t>
            </a:r>
            <a:endParaRPr b="0" sz="1110">
              <a:solidFill>
                <a:srgbClr val="5B6B5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3150" y="0"/>
            <a:ext cx="302557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20"/>
          <p:cNvGrpSpPr/>
          <p:nvPr/>
        </p:nvGrpSpPr>
        <p:grpSpPr>
          <a:xfrm>
            <a:off x="0" y="0"/>
            <a:ext cx="10497234" cy="6807708"/>
            <a:chOff x="0" y="0"/>
            <a:chExt cx="10497234" cy="6807708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20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182" name="Google Shape;182;p20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0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0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20"/>
            <p:cNvSpPr/>
            <p:nvPr/>
          </p:nvSpPr>
          <p:spPr>
            <a:xfrm rot="-5400000">
              <a:off x="7620714" y="3931188"/>
              <a:ext cx="3117360" cy="263568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0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0" name="Google Shape;190;p20"/>
          <p:cNvSpPr txBox="1"/>
          <p:nvPr/>
        </p:nvSpPr>
        <p:spPr>
          <a:xfrm>
            <a:off x="381000" y="342900"/>
            <a:ext cx="78105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40" b="1">
                <a:solidFill>
                  <a:srgbClr val="C06E52"/>
                </a:solidFill>
                <a:latin typeface="DM Sans"/>
                <a:ea typeface="DM Sans"/>
                <a:cs typeface="DM Sans"/>
              </a:rPr>
              <a:t>SYSTEM ARCHITECTURE</a:t>
            </a:r>
            <a:endParaRPr sz="840" b="1">
              <a:solidFill>
                <a:srgbClr val="C06E52"/>
              </a:solidFill>
              <a:latin typeface="DM Sans"/>
              <a:ea typeface="DM Sans"/>
              <a:cs typeface="DM Sans"/>
            </a:endParaRPr>
          </a:p>
          <a:p>
            <a:pPr marL="0" lvl="0" indent="0" algn="l">
              <a:spcBef>
                <a:spcPts val="450"/>
              </a:spcBef>
              <a:spcAft>
                <a:spcPts val="0"/>
              </a:spcAft>
              <a:buNone/>
            </a:pPr>
            <a:r>
              <a:rPr sz="2240" b="1">
                <a:solidFill>
                  <a:srgbClr val="2C3525"/>
                </a:solidFill>
                <a:latin typeface="Fraunces"/>
                <a:ea typeface="Fraunces"/>
                <a:cs typeface="Fraunces"/>
              </a:rPr>
              <a:t>EcoGotchi’s iPhone Architecture</a:t>
            </a:r>
            <a:endParaRPr sz="2240" b="1">
              <a:solidFill>
                <a:srgbClr val="2C3525"/>
              </a:solidFill>
              <a:latin typeface="Fraunces"/>
              <a:ea typeface="Fraunces"/>
              <a:cs typeface="Fraunces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381000" y="1257300"/>
            <a:ext cx="8382075" cy="457200"/>
            <a:chOff x="0" y="0"/>
            <a:chExt cx="8382075" cy="457200"/>
          </a:xfrm>
        </p:grpSpPr>
        <p:grpSp>
          <p:nvGrpSpPr>
            <p:cNvPr id="192" name="Google Shape;192;p20"/>
            <p:cNvGrpSpPr/>
            <p:nvPr/>
          </p:nvGrpSpPr>
          <p:grpSpPr>
            <a:xfrm>
              <a:off x="0" y="0"/>
              <a:ext cx="1952700" cy="457200"/>
              <a:chOff x="0" y="0"/>
              <a:chExt cx="1952700" cy="457200"/>
            </a:xfrm>
          </p:grpSpPr>
          <p:sp>
            <p:nvSpPr>
              <p:cNvPr id="193" name="Google Shape;193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SWIFTUI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195" name="Google Shape;195;p20"/>
            <p:cNvGrpSpPr/>
            <p:nvPr/>
          </p:nvGrpSpPr>
          <p:grpSpPr>
            <a:xfrm>
              <a:off x="2143125" y="0"/>
              <a:ext cx="1952700" cy="457200"/>
              <a:chOff x="0" y="0"/>
              <a:chExt cx="1952700" cy="457200"/>
            </a:xfrm>
          </p:grpSpPr>
          <p:sp>
            <p:nvSpPr>
              <p:cNvPr id="196" name="Google Shape;196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5B6B5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AVFOUNDATION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198" name="Google Shape;198;p20"/>
            <p:cNvGrpSpPr/>
            <p:nvPr/>
          </p:nvGrpSpPr>
          <p:grpSpPr>
            <a:xfrm>
              <a:off x="4286250" y="0"/>
              <a:ext cx="1952700" cy="457200"/>
              <a:chOff x="0" y="0"/>
              <a:chExt cx="1952700" cy="4572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LOCAL STORAGE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01" name="Google Shape;201;p20"/>
            <p:cNvGrpSpPr/>
            <p:nvPr/>
          </p:nvGrpSpPr>
          <p:grpSpPr>
            <a:xfrm>
              <a:off x="6429375" y="0"/>
              <a:ext cx="1952700" cy="457200"/>
              <a:chOff x="0" y="0"/>
              <a:chExt cx="1952700" cy="457200"/>
            </a:xfrm>
          </p:grpSpPr>
          <p:sp>
            <p:nvSpPr>
              <p:cNvPr id="202" name="Google Shape;202;p20"/>
              <p:cNvSpPr/>
              <p:nvPr/>
            </p:nvSpPr>
            <p:spPr>
              <a:xfrm>
                <a:off x="0" y="0"/>
                <a:ext cx="19527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2C35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0"/>
              <p:cNvSpPr txBox="1"/>
              <p:nvPr/>
            </p:nvSpPr>
            <p:spPr>
              <a:xfrm>
                <a:off x="0" y="0"/>
                <a:ext cx="19527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>
                <a:noAutofit/>
              </a:bodyPr>
              <a:lstStyle/>
              <a:p>
                <a:pPr marL="0" lvl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FFFFFF"/>
                    </a:solidFill>
                    <a:latin typeface="DM Sans"/>
                    <a:ea typeface="DM Sans"/>
                    <a:cs typeface="DM Sans"/>
                  </a:rPr>
                  <a:t>GEMINI API</a:t>
                </a:r>
                <a:endParaRPr sz="1200" b="1">
                  <a:solidFill>
                    <a:srgbClr val="FFFFFF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</p:grpSp>
      <p:grpSp>
        <p:nvGrpSpPr>
          <p:cNvPr id="204" name="Google Shape;204;p20"/>
          <p:cNvGrpSpPr/>
          <p:nvPr/>
        </p:nvGrpSpPr>
        <p:grpSpPr>
          <a:xfrm>
            <a:off x="381000" y="1943100"/>
            <a:ext cx="8382000" cy="2762400"/>
            <a:chOff x="0" y="0"/>
            <a:chExt cx="8382000" cy="2762400"/>
          </a:xfrm>
        </p:grpSpPr>
        <p:grpSp>
          <p:nvGrpSpPr>
            <p:cNvPr id="205" name="Google Shape;205;p20"/>
            <p:cNvGrpSpPr/>
            <p:nvPr/>
          </p:nvGrpSpPr>
          <p:grpSpPr>
            <a:xfrm>
              <a:off x="0" y="0"/>
              <a:ext cx="2667000" cy="2762400"/>
              <a:chOff x="0" y="0"/>
              <a:chExt cx="2667000" cy="2762400"/>
            </a:xfrm>
          </p:grpSpPr>
          <p:sp>
            <p:nvSpPr>
              <p:cNvPr id="206" name="Google Shape;206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4A7C59"/>
                    </a:solidFill>
                    <a:latin typeface="DM Sans"/>
                    <a:ea typeface="DM Sans"/>
                    <a:cs typeface="DM Sans"/>
                  </a:rPr>
                  <a:t>ON IPHONE</a:t>
                </a:r>
                <a:endParaRPr sz="1200" b="1">
                  <a:solidFill>
                    <a:srgbClr val="4A7C59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Native app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SwiftUI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powers the habitats and pet interactions.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AVFoundation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captures the bin and item photos.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09" name="Google Shape;209;p20"/>
            <p:cNvGrpSpPr/>
            <p:nvPr/>
          </p:nvGrpSpPr>
          <p:grpSpPr>
            <a:xfrm>
              <a:off x="2857500" y="0"/>
              <a:ext cx="2667000" cy="2762400"/>
              <a:chOff x="0" y="0"/>
              <a:chExt cx="2667000" cy="2762400"/>
            </a:xfrm>
          </p:grpSpPr>
          <p:sp>
            <p:nvSpPr>
              <p:cNvPr id="210" name="Google Shape;210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</a:rPr>
                  <a:t>GAME &amp; DATA</a:t>
                </a:r>
                <a:endParaRPr sz="1200" b="1">
                  <a:solidFill>
                    <a:srgbClr val="C06E52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Local progress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HabitatStore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manages leaves and rewards.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UserDefaults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saves progress and review receipts. </a:t>
                </a:r>
                <a:r>
                  <a:rPr sz="1300" b="1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Keychain</a:t>
                </a: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 stores the API key.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5715000" y="0"/>
              <a:ext cx="2667000" cy="2762400"/>
              <a:chOff x="0" y="0"/>
              <a:chExt cx="2667000" cy="27624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2667000" cy="2762400"/>
              </a:xfrm>
              <a:prstGeom prst="roundRect">
                <a:avLst>
                  <a:gd fmla="val 5714" name="adj"/>
                </a:avLst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>
                <a:off x="0" y="0"/>
                <a:ext cx="26670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2C352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0"/>
              <p:cNvSpPr txBox="1"/>
              <p:nvPr/>
            </p:nvSpPr>
            <p:spPr>
              <a:xfrm>
                <a:off x="228600" y="228600"/>
                <a:ext cx="2209800" cy="23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1200" b="1">
                    <a:solidFill>
                      <a:srgbClr val="5B6B50"/>
                    </a:solidFill>
                    <a:latin typeface="DM Sans"/>
                    <a:ea typeface="DM Sans"/>
                    <a:cs typeface="DM Sans"/>
                  </a:rPr>
                  <a:t>CLOUD REVIEW</a:t>
                </a:r>
                <a:endParaRPr sz="1200" b="1">
                  <a:solidFill>
                    <a:srgbClr val="5B6B50"/>
                  </a:solidFill>
                  <a:latin typeface="DM Sans"/>
                  <a:ea typeface="DM Sans"/>
                  <a:cs typeface="DM Sans"/>
                </a:endParaRPr>
              </a:p>
              <a:p>
                <a:pPr marL="0" lvl="0" indent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sz="1800" b="1">
                    <a:solidFill>
                      <a:srgbClr val="2C3525"/>
                    </a:solidFill>
                    <a:latin typeface="Fraunces"/>
                    <a:ea typeface="Fraunces"/>
                    <a:cs typeface="Fraunces"/>
                  </a:rPr>
                  <a:t>Gemini AI</a:t>
                </a:r>
                <a:endParaRPr sz="1800" b="1">
                  <a:solidFill>
                    <a:srgbClr val="2C3525"/>
                  </a:solidFill>
                  <a:latin typeface="Fraunces"/>
                  <a:ea typeface="Fraunces"/>
                  <a:cs typeface="Fraunces"/>
                </a:endParaRPr>
              </a:p>
              <a:p>
                <a:pPr marL="0" lvl="0" indent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sz="1300" b="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</a:rPr>
                  <a:t>The iPhone sends both photos to Gemini over HTTPS. Likely recycling matches earn leaves based on material. Review continues while you play.</a:t>
                </a:r>
                <a:endParaRPr sz="1300" b="0">
                  <a:solidFill>
                    <a:srgbClr val="2C3525"/>
                  </a:solidFill>
                  <a:latin typeface="DM Sans"/>
                  <a:ea typeface="DM Sans"/>
                  <a:cs typeface="DM Sans"/>
                </a:endParaRPr>
              </a:p>
            </p:txBody>
          </p:sp>
        </p:grpSp>
      </p:grpSp>
      <p:sp>
        <p:nvSpPr>
          <p:cNvPr id="217" name="Scan mode note">
            <a:extLst>
              <a:ext uri="{FF2B5EF4-FFF2-40B4-BE49-F238E27FC236}">
                <a16:creationId xmlns:a16="http://schemas.microsoft.com/office/drawing/2014/main" id="{38578BC8-B12C-469B-9D43-0C36B08E3AA4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80010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>
                <a:solidFill>
                  <a:srgbClr val="5B6B50"/>
                </a:solidFill>
                <a:latin typeface="DM Sans"/>
                <a:ea typeface="DM Sans"/>
                <a:cs typeface="DM Sans"/>
              </a:defRPr>
            </a:pPr>
            <a:r>
              <a:rPr sz="900">
                <a:solidFill>
                  <a:srgbClr val="5B6B50"/>
                </a:solidFill>
                <a:latin typeface="DM Sans"/>
                <a:ea typeface="DM Sans"/>
                <a:cs typeface="DM Sans"/>
              </a:rPr>
              <a:t>Demo accepts scans offline. Actual reviews photos with Gemini. No Mac connection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1"/>
          <p:cNvGrpSpPr/>
          <p:nvPr/>
        </p:nvGrpSpPr>
        <p:grpSpPr>
          <a:xfrm>
            <a:off x="0" y="0"/>
            <a:ext cx="10497354" cy="6807708"/>
            <a:chOff x="0" y="0"/>
            <a:chExt cx="10497354" cy="6807708"/>
          </a:xfrm>
        </p:grpSpPr>
        <p:sp>
          <p:nvSpPr>
            <p:cNvPr id="222" name="Google Shape;222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1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21"/>
            <p:cNvGrpSpPr/>
            <p:nvPr/>
          </p:nvGrpSpPr>
          <p:grpSpPr>
            <a:xfrm>
              <a:off x="8477250" y="381000"/>
              <a:ext cx="285900" cy="285900"/>
              <a:chOff x="0" y="0"/>
              <a:chExt cx="285900" cy="285900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0" y="0"/>
                <a:ext cx="285900" cy="285900"/>
              </a:xfrm>
              <a:custGeom>
                <a:rect b="b" l="l" r="r" t="t"/>
                <a:pathLst>
                  <a:path extrusionOk="0" h="120000" w="120000">
                    <a:moveTo>
                      <a:pt x="60000" y="0"/>
                    </a:moveTo>
                    <a:cubicBezTo>
                      <a:pt x="93136" y="0"/>
                      <a:pt x="120000" y="26864"/>
                      <a:pt x="120000" y="60000"/>
                    </a:cubicBezTo>
                    <a:cubicBezTo>
                      <a:pt x="120000" y="93136"/>
                      <a:pt x="93136" y="120000"/>
                      <a:pt x="60000" y="120000"/>
                    </a:cubicBezTo>
                    <a:cubicBezTo>
                      <a:pt x="26864" y="120000"/>
                      <a:pt x="0" y="93136"/>
                      <a:pt x="0" y="60000"/>
                    </a:cubicBezTo>
                    <a:cubicBezTo>
                      <a:pt x="0" y="26864"/>
                      <a:pt x="26864" y="0"/>
                      <a:pt x="60000" y="0"/>
                    </a:cubicBezTo>
                    <a:close/>
                  </a:path>
                </a:pathLst>
              </a:custGeom>
              <a:solidFill>
                <a:srgbClr val="4A7C59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1"/>
              <p:cNvSpPr/>
              <p:nvPr/>
            </p:nvSpPr>
            <p:spPr>
              <a:xfrm>
                <a:off x="47625" y="57150"/>
                <a:ext cx="171600" cy="162000"/>
              </a:xfrm>
              <a:custGeom>
                <a:rect b="b" l="l" r="r" t="t"/>
                <a:pathLst>
                  <a:path extrusionOk="0" h="120000" w="120000">
                    <a:moveTo>
                      <a:pt x="66667" y="0"/>
                    </a:moveTo>
                    <a:cubicBezTo>
                      <a:pt x="100000" y="0"/>
                      <a:pt x="120000" y="28235"/>
                      <a:pt x="120000" y="63529"/>
                    </a:cubicBezTo>
                    <a:cubicBezTo>
                      <a:pt x="120000" y="84706"/>
                      <a:pt x="106667" y="105882"/>
                      <a:pt x="80000" y="120000"/>
                    </a:cubicBezTo>
                    <a:lnTo>
                      <a:pt x="80000" y="98824"/>
                    </a:lnTo>
                    <a:cubicBezTo>
                      <a:pt x="96667" y="88235"/>
                      <a:pt x="103333" y="70588"/>
                      <a:pt x="103333" y="52941"/>
                    </a:cubicBezTo>
                    <a:cubicBezTo>
                      <a:pt x="103333" y="31765"/>
                      <a:pt x="86667" y="14118"/>
                      <a:pt x="66667" y="14118"/>
                    </a:cubicBezTo>
                    <a:cubicBezTo>
                      <a:pt x="46667" y="14118"/>
                      <a:pt x="30000" y="31765"/>
                      <a:pt x="30000" y="52941"/>
                    </a:cubicBezTo>
                    <a:lnTo>
                      <a:pt x="46667" y="52941"/>
                    </a:lnTo>
                    <a:lnTo>
                      <a:pt x="23333" y="88235"/>
                    </a:lnTo>
                    <a:lnTo>
                      <a:pt x="0" y="52941"/>
                    </a:lnTo>
                    <a:lnTo>
                      <a:pt x="16667" y="52941"/>
                    </a:lnTo>
                    <a:cubicBezTo>
                      <a:pt x="16667" y="24706"/>
                      <a:pt x="36667" y="0"/>
                      <a:pt x="66667" y="0"/>
                    </a:cubicBezTo>
                    <a:close/>
                  </a:path>
                </a:pathLst>
              </a:cu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1"/>
              <p:cNvSpPr/>
              <p:nvPr/>
            </p:nvSpPr>
            <p:spPr>
              <a:xfrm>
                <a:off x="161925" y="76200"/>
                <a:ext cx="38100" cy="381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" name="Google Shape;227;p21"/>
            <p:cNvSpPr/>
            <p:nvPr/>
          </p:nvSpPr>
          <p:spPr>
            <a:xfrm rot="-5400000">
              <a:off x="7620804" y="3931158"/>
              <a:ext cx="3117300" cy="2635800"/>
            </a:xfrm>
            <a:custGeom>
              <a:rect b="b" l="l" r="r" t="t"/>
              <a:pathLst>
                <a:path extrusionOk="0" h="120000" w="120000">
                  <a:moveTo>
                    <a:pt x="99408" y="12801"/>
                  </a:moveTo>
                  <a:cubicBezTo>
                    <a:pt x="109118" y="18907"/>
                    <a:pt x="115717" y="32194"/>
                    <a:pt x="117859" y="46765"/>
                  </a:cubicBezTo>
                  <a:cubicBezTo>
                    <a:pt x="120000" y="61336"/>
                    <a:pt x="117683" y="74276"/>
                    <a:pt x="110848" y="85689"/>
                  </a:cubicBezTo>
                  <a:cubicBezTo>
                    <a:pt x="104014" y="97103"/>
                    <a:pt x="92662" y="107129"/>
                    <a:pt x="80606" y="112888"/>
                  </a:cubicBezTo>
                  <a:cubicBezTo>
                    <a:pt x="68550" y="118647"/>
                    <a:pt x="54735" y="120000"/>
                    <a:pt x="41418" y="117190"/>
                  </a:cubicBezTo>
                  <a:cubicBezTo>
                    <a:pt x="28101" y="114380"/>
                    <a:pt x="15048" y="107407"/>
                    <a:pt x="8008" y="93981"/>
                  </a:cubicBezTo>
                  <a:cubicBezTo>
                    <a:pt x="968" y="80555"/>
                    <a:pt x="0" y="60676"/>
                    <a:pt x="4605" y="43643"/>
                  </a:cubicBezTo>
                  <a:cubicBezTo>
                    <a:pt x="9210" y="26609"/>
                    <a:pt x="19389" y="12420"/>
                    <a:pt x="32061" y="6210"/>
                  </a:cubicBezTo>
                  <a:cubicBezTo>
                    <a:pt x="44732" y="0"/>
                    <a:pt x="59897" y="1769"/>
                    <a:pt x="71425" y="6210"/>
                  </a:cubicBezTo>
                  <a:cubicBezTo>
                    <a:pt x="82953" y="10650"/>
                    <a:pt x="94803" y="17589"/>
                    <a:pt x="99408" y="12801"/>
                  </a:cubicBezTo>
                  <a:close/>
                </a:path>
              </a:pathLst>
            </a:custGeom>
            <a:solidFill>
              <a:srgbClr val="A8C29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8" name="Google Shape;228;p21"/>
            <p:cNvGrpSpPr/>
            <p:nvPr/>
          </p:nvGrpSpPr>
          <p:grpSpPr>
            <a:xfrm>
              <a:off x="190500" y="4762500"/>
              <a:ext cx="171540" cy="228600"/>
              <a:chOff x="0" y="0"/>
              <a:chExt cx="285900" cy="381000"/>
            </a:xfrm>
          </p:grpSpPr>
          <p:sp>
            <p:nvSpPr>
              <p:cNvPr id="229" name="Google Shape;229;p21"/>
              <p:cNvSpPr/>
              <p:nvPr/>
            </p:nvSpPr>
            <p:spPr>
              <a:xfrm>
                <a:off x="0" y="0"/>
                <a:ext cx="285900" cy="3810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40000" y="60000"/>
                      <a:pt x="120000" y="0"/>
                    </a:quadBez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19050">
                <a:solidFill>
                  <a:srgbClr val="5B6B5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1"/>
              <p:cNvSpPr/>
              <p:nvPr/>
            </p:nvSpPr>
            <p:spPr>
              <a:xfrm>
                <a:off x="95250" y="95250"/>
                <a:ext cx="1905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80000"/>
                    </a:moveTo>
                    <a:quadBezTo>
                      <a:pt x="60000" y="0"/>
                      <a:pt x="120000" y="40000"/>
                    </a:quadBezTo>
                    <a:quadBezTo>
                      <a:pt x="90000" y="120000"/>
                      <a:pt x="0" y="80000"/>
                    </a:quadBezTo>
                    <a:close/>
                  </a:path>
                </a:pathLst>
              </a:custGeom>
              <a:solidFill>
                <a:srgbClr val="A8C29A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1"/>
              <p:cNvSpPr/>
              <p:nvPr/>
            </p:nvSpPr>
            <p:spPr>
              <a:xfrm>
                <a:off x="47625" y="238125"/>
                <a:ext cx="142800" cy="142800"/>
              </a:xfrm>
              <a:custGeom>
                <a:rect b="b" l="l" r="r" t="t"/>
                <a:pathLst>
                  <a:path extrusionOk="0" h="120000" w="120000">
                    <a:moveTo>
                      <a:pt x="0" y="40000"/>
                    </a:moveTo>
                    <a:quadBezTo>
                      <a:pt x="80000" y="0"/>
                      <a:pt x="120000" y="80000"/>
                    </a:quadBezTo>
                    <a:quadBezTo>
                      <a:pt x="40000" y="120000"/>
                      <a:pt x="0" y="40000"/>
                    </a:quadBezTo>
                    <a:close/>
                  </a:path>
                </a:pathLst>
              </a:custGeom>
              <a:solidFill>
                <a:srgbClr val="4A7C59">
                  <a:alpha val="8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2" name="Google Shape;232;p21"/>
          <p:cNvSpPr txBox="1"/>
          <p:nvPr/>
        </p:nvSpPr>
        <p:spPr>
          <a:xfrm>
            <a:off x="381000" y="333375"/>
            <a:ext cx="7810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10">
                <a:solidFill>
                  <a:srgbClr val="C06E52"/>
                </a:solidFill>
                <a:latin typeface="DM Sans"/>
                <a:ea typeface="DM Sans"/>
                <a:cs typeface="DM Sans"/>
                <a:sym typeface="DM Sans"/>
              </a:rPr>
              <a:t>MARKET IMPACT &amp; ROADMAP</a:t>
            </a:r>
            <a:endParaRPr b="1" sz="1110">
              <a:solidFill>
                <a:srgbClr val="C06E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" sz="2590">
                <a:solidFill>
                  <a:srgbClr val="2C3525"/>
                </a:solidFill>
                <a:latin typeface="Fraunces"/>
                <a:ea typeface="Fraunces"/>
                <a:cs typeface="Fraunces"/>
                <a:sym typeface="Fraunces"/>
              </a:rPr>
              <a:t>Expanding Impact Through Partnerships and Smart Hardware</a:t>
            </a:r>
            <a:endParaRPr b="1" sz="2590">
              <a:solidFill>
                <a:srgbClr val="2C3525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grpSp>
        <p:nvGrpSpPr>
          <p:cNvPr id="233" name="Google Shape;233;p21"/>
          <p:cNvGrpSpPr/>
          <p:nvPr/>
        </p:nvGrpSpPr>
        <p:grpSpPr>
          <a:xfrm>
            <a:off x="381000" y="1476375"/>
            <a:ext cx="8382000" cy="1143000"/>
            <a:chOff x="0" y="0"/>
            <a:chExt cx="8382000" cy="1143000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8382000" cy="1143000"/>
            </a:xfrm>
            <a:prstGeom prst="roundRect">
              <a:avLst>
                <a:gd fmla="val 6666" name="adj"/>
              </a:avLst>
            </a:prstGeom>
            <a:solidFill>
              <a:srgbClr val="A8C29A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0" y="0"/>
              <a:ext cx="57300" cy="1143000"/>
            </a:xfrm>
            <a:prstGeom prst="roundRect">
              <a:avLst>
                <a:gd fmla="val 50000" name="adj"/>
              </a:avLst>
            </a:prstGeom>
            <a:solidFill>
              <a:srgbClr val="C06E5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1"/>
            <p:cNvSpPr txBox="1"/>
            <p:nvPr/>
          </p:nvSpPr>
          <p:spPr>
            <a:xfrm>
              <a:off x="285750" y="95250"/>
              <a:ext cx="781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9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Market Impact &amp; Environmental Strategy</a:t>
              </a:r>
              <a:endParaRPr b="1" sz="969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Effortless &amp; Efficient Recycling: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Streamlines sorting and disposal through</a:t>
              </a:r>
              <a:r>
                <a:rPr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gamification, 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making sustainable habits seamless </a:t>
              </a:r>
              <a:r>
                <a:rPr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and easy to do for users.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Habitat &amp; Biodiversity Protection: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Reduces litter and contamination in local ecosystems, lowering pollution levels to protect natural wildlife habitats.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-280273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2C3525"/>
                </a:buClr>
                <a:buSzPts val="814"/>
                <a:buFont typeface="DM Sans"/>
                <a:buChar char="●"/>
              </a:pPr>
              <a:r>
                <a:rPr b="1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Targeted Rollout:</a:t>
              </a:r>
              <a:r>
                <a:rPr b="0" lang="en" sz="814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 Focuses initial deployment on university campuses and eco-conscious municipalities to maximize immediate ecological footprint reduction.</a:t>
              </a:r>
              <a:endParaRPr b="0" sz="814">
                <a:solidFill>
                  <a:srgbClr val="2C3525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381000" y="2762250"/>
            <a:ext cx="8382000" cy="2143200"/>
            <a:chOff x="0" y="0"/>
            <a:chExt cx="8382000" cy="2143200"/>
          </a:xfrm>
        </p:grpSpPr>
        <p:sp>
          <p:nvSpPr>
            <p:cNvPr id="238" name="Google Shape;238;p21"/>
            <p:cNvSpPr txBox="1"/>
            <p:nvPr/>
          </p:nvSpPr>
          <p:spPr>
            <a:xfrm>
              <a:off x="0" y="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Future Roadmap</a:t>
              </a:r>
              <a:endParaRPr b="1" sz="14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cxnSp>
          <p:nvCxnSpPr>
            <p:cNvPr id="239" name="Google Shape;239;p21"/>
            <p:cNvCxnSpPr/>
            <p:nvPr/>
          </p:nvCxnSpPr>
          <p:spPr>
            <a:xfrm>
              <a:off x="266700" y="523875"/>
              <a:ext cx="6429300" cy="0"/>
            </a:xfrm>
            <a:prstGeom prst="straightConnector1">
              <a:avLst/>
            </a:prstGeom>
            <a:solidFill>
              <a:srgbClr val="FFFFFF"/>
            </a:solidFill>
            <a:ln cap="flat" cmpd="sng" w="38100">
              <a:solidFill>
                <a:srgbClr val="E8E3D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0" name="Google Shape;240;p21"/>
            <p:cNvGrpSpPr/>
            <p:nvPr/>
          </p:nvGrpSpPr>
          <p:grpSpPr>
            <a:xfrm>
              <a:off x="0" y="409575"/>
              <a:ext cx="1905000" cy="1733625"/>
              <a:chOff x="0" y="171450"/>
              <a:chExt cx="1905000" cy="1733625"/>
            </a:xfrm>
          </p:grpSpPr>
          <p:sp>
            <p:nvSpPr>
              <p:cNvPr id="241" name="Google Shape;241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4A7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1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Launch beta application and refine object recognition model.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43" name="Google Shape;243;p21"/>
            <p:cNvGrpSpPr/>
            <p:nvPr/>
          </p:nvGrpSpPr>
          <p:grpSpPr>
            <a:xfrm>
              <a:off x="2143125" y="409575"/>
              <a:ext cx="1905000" cy="1733625"/>
              <a:chOff x="0" y="171450"/>
              <a:chExt cx="1905000" cy="1733625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C06E5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C06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2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Partner with local sustainable brands for real-world discounts.</a:t>
                </a:r>
                <a:endParaRPr b="1" i="0" sz="1100">
                  <a:solidFill>
                    <a:srgbClr val="C06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246" name="Google Shape;246;p21"/>
            <p:cNvGrpSpPr/>
            <p:nvPr/>
          </p:nvGrpSpPr>
          <p:grpSpPr>
            <a:xfrm>
              <a:off x="4286250" y="409575"/>
              <a:ext cx="1905000" cy="1733625"/>
              <a:chOff x="0" y="171450"/>
              <a:chExt cx="1905000" cy="1733625"/>
            </a:xfrm>
          </p:grpSpPr>
          <p:sp>
            <p:nvSpPr>
              <p:cNvPr id="247" name="Google Shape;247;p21"/>
              <p:cNvSpPr/>
              <p:nvPr/>
            </p:nvSpPr>
            <p:spPr>
              <a:xfrm>
                <a:off x="152400" y="171450"/>
                <a:ext cx="228600" cy="228600"/>
              </a:xfrm>
              <a:prstGeom prst="ellipse">
                <a:avLst/>
              </a:prstGeom>
              <a:solidFill>
                <a:srgbClr val="A8C29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1"/>
              <p:cNvSpPr txBox="1"/>
              <p:nvPr/>
            </p:nvSpPr>
            <p:spPr>
              <a:xfrm>
                <a:off x="0" y="523875"/>
                <a:ext cx="1905000" cy="1381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100">
                    <a:solidFill>
                      <a:srgbClr val="4A7C59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PHASE 3</a:t>
                </a:r>
                <a:endParaRPr b="1" i="0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i="0" lang="en" sz="1200">
                    <a:solidFill>
                      <a:srgbClr val="2C3525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Integrate with IoT smart bins to automatically verify disposal.</a:t>
                </a:r>
                <a:endParaRPr b="1" i="0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grpSp>
        <p:nvGrpSpPr>
          <p:cNvPr id="249" name="Google Shape;249;p21"/>
          <p:cNvGrpSpPr/>
          <p:nvPr/>
        </p:nvGrpSpPr>
        <p:grpSpPr>
          <a:xfrm>
            <a:off x="6810375" y="3171825"/>
            <a:ext cx="1905000" cy="1733625"/>
            <a:chOff x="0" y="171450"/>
            <a:chExt cx="1905000" cy="1733625"/>
          </a:xfrm>
        </p:grpSpPr>
        <p:sp>
          <p:nvSpPr>
            <p:cNvPr id="250" name="Google Shape;250;p21"/>
            <p:cNvSpPr/>
            <p:nvPr/>
          </p:nvSpPr>
          <p:spPr>
            <a:xfrm>
              <a:off x="152400" y="171450"/>
              <a:ext cx="228600" cy="228600"/>
            </a:xfrm>
            <a:prstGeom prst="ellipse">
              <a:avLst/>
            </a:prstGeom>
            <a:solidFill>
              <a:srgbClr val="2C352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1"/>
            <p:cNvSpPr txBox="1"/>
            <p:nvPr/>
          </p:nvSpPr>
          <p:spPr>
            <a:xfrm>
              <a:off x="0" y="523875"/>
              <a:ext cx="19050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4A7C59"/>
                  </a:solidFill>
                  <a:latin typeface="DM Sans"/>
                  <a:ea typeface="DM Sans"/>
                  <a:cs typeface="DM Sans"/>
                  <a:sym typeface="DM Sans"/>
                </a:rPr>
                <a:t>PHASE 4</a:t>
              </a:r>
              <a:endParaRPr b="1" i="0" sz="11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i="0" lang="en" sz="1200">
                  <a:solidFill>
                    <a:srgbClr val="2C3525"/>
                  </a:solidFill>
                  <a:latin typeface="DM Sans"/>
                  <a:ea typeface="DM Sans"/>
                  <a:cs typeface="DM Sans"/>
                  <a:sym typeface="DM Sans"/>
                </a:rPr>
                <a:t>Photograph local wildlife to 'collect' animals and grow your digital ecosystem.</a:t>
              </a:r>
              <a:endParaRPr b="1" i="0" sz="1100">
                <a:solidFill>
                  <a:srgbClr val="4A7C5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